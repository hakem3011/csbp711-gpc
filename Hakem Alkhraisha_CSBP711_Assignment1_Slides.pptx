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665" y="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36887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Predicting geopolymer concrete strength from its mix design</a:t>
            </a:r>
            <a:endParaRPr lang="en-US" sz="3000" dirty="0"/>
          </a:p>
        </p:txBody>
      </p:sp>
      <p:sp>
        <p:nvSpPr>
          <p:cNvPr id="3" name="Text 1"/>
          <p:cNvSpPr txBox="1"/>
          <p:nvPr/>
        </p:nvSpPr>
        <p:spPr>
          <a:xfrm>
            <a:off x="548640" y="1005840"/>
            <a:ext cx="11064240" cy="365760"/>
          </a:xfrm>
          <a:prstGeom prst="rect">
            <a:avLst/>
          </a:prstGeom>
          <a:noFill/>
          <a:ln/>
        </p:spPr>
        <p:txBody>
          <a:bodyPr wrap="square" lIns="0" tIns="0" rIns="0" bIns="0" rtlCol="0" anchor="ctr"/>
          <a:lstStyle/>
          <a:p>
            <a:pPr marL="0" indent="0">
              <a:buNone/>
            </a:pPr>
            <a:r>
              <a:rPr lang="en-US" sz="1400" dirty="0">
                <a:solidFill>
                  <a:srgbClr val="666666"/>
                </a:solidFill>
                <a:latin typeface="Calibri" pitchFamily="34" charset="0"/>
                <a:ea typeface="Calibri" pitchFamily="34" charset="-122"/>
                <a:cs typeface="Calibri" pitchFamily="34" charset="-120"/>
              </a:rPr>
              <a:t>Hakem Mohammad Alkhraisha (700043202) · CSBP 711 Advanced AI, Dr. Ahmed Bediwy · Assignment 1 · 4 October 2026</a:t>
            </a:r>
            <a:endParaRPr lang="en-US" sz="1400" dirty="0"/>
          </a:p>
        </p:txBody>
      </p:sp>
      <p:sp>
        <p:nvSpPr>
          <p:cNvPr id="4" name="Shape 2"/>
          <p:cNvSpPr/>
          <p:nvPr/>
        </p:nvSpPr>
        <p:spPr>
          <a:xfrm>
            <a:off x="548640" y="1554480"/>
            <a:ext cx="2651760" cy="1234440"/>
          </a:xfrm>
          <a:prstGeom prst="roundRect">
            <a:avLst>
              <a:gd name="adj" fmla="val 7407"/>
            </a:avLst>
          </a:prstGeom>
          <a:solidFill>
            <a:srgbClr val="EEF2F6"/>
          </a:solidFill>
          <a:ln w="12700">
            <a:solidFill>
              <a:srgbClr val="EEF2F6"/>
            </a:solidFill>
            <a:prstDash val="solid"/>
          </a:ln>
        </p:spPr>
        <p:txBody>
          <a:bodyPr/>
          <a:lstStyle/>
          <a:p>
            <a:endParaRPr lang="en-US"/>
          </a:p>
        </p:txBody>
      </p:sp>
      <p:sp>
        <p:nvSpPr>
          <p:cNvPr id="5" name="Text 3"/>
          <p:cNvSpPr txBox="1"/>
          <p:nvPr/>
        </p:nvSpPr>
        <p:spPr>
          <a:xfrm>
            <a:off x="548640" y="1664208"/>
            <a:ext cx="2651760" cy="640080"/>
          </a:xfrm>
          <a:prstGeom prst="rect">
            <a:avLst/>
          </a:prstGeom>
          <a:noFill/>
          <a:ln/>
        </p:spPr>
        <p:txBody>
          <a:bodyPr wrap="square" lIns="0" tIns="0" rIns="0" bIns="0" rtlCol="0" anchor="ctr"/>
          <a:lstStyle/>
          <a:p>
            <a:pPr marL="0" indent="0" algn="ctr">
              <a:buNone/>
            </a:pPr>
            <a:r>
              <a:rPr lang="en-US" sz="3200" b="1" dirty="0">
                <a:solidFill>
                  <a:srgbClr val="1B2A4A"/>
                </a:solidFill>
                <a:latin typeface="Cambria" pitchFamily="34" charset="0"/>
                <a:ea typeface="Cambria" pitchFamily="34" charset="-122"/>
                <a:cs typeface="Cambria" pitchFamily="34" charset="-120"/>
              </a:rPr>
              <a:t>1,136</a:t>
            </a:r>
            <a:endParaRPr lang="en-US" sz="3200" dirty="0"/>
          </a:p>
        </p:txBody>
      </p:sp>
      <p:sp>
        <p:nvSpPr>
          <p:cNvPr id="6" name="Text 4"/>
          <p:cNvSpPr txBox="1"/>
          <p:nvPr/>
        </p:nvSpPr>
        <p:spPr>
          <a:xfrm>
            <a:off x="685800" y="2304288"/>
            <a:ext cx="2377440" cy="411480"/>
          </a:xfrm>
          <a:prstGeom prst="rect">
            <a:avLst/>
          </a:prstGeom>
          <a:noFill/>
          <a:ln/>
        </p:spPr>
        <p:txBody>
          <a:bodyPr wrap="square" lIns="0" tIns="0" rIns="0" bIns="0" rtlCol="0" anchor="ctr"/>
          <a:lstStyle/>
          <a:p>
            <a:pPr marL="0" indent="0" algn="ctr">
              <a:buNone/>
            </a:pPr>
            <a:r>
              <a:rPr lang="en-US" sz="1200" dirty="0">
                <a:solidFill>
                  <a:srgbClr val="666666"/>
                </a:solidFill>
                <a:latin typeface="Calibri" pitchFamily="34" charset="0"/>
                <a:ea typeface="Calibri" pitchFamily="34" charset="-122"/>
                <a:cs typeface="Calibri" pitchFamily="34" charset="-120"/>
              </a:rPr>
              <a:t>mixes, one row each</a:t>
            </a:r>
            <a:endParaRPr lang="en-US" sz="1200" dirty="0"/>
          </a:p>
        </p:txBody>
      </p:sp>
      <p:sp>
        <p:nvSpPr>
          <p:cNvPr id="7" name="Shape 5"/>
          <p:cNvSpPr/>
          <p:nvPr/>
        </p:nvSpPr>
        <p:spPr>
          <a:xfrm>
            <a:off x="3383280" y="1554480"/>
            <a:ext cx="2651760" cy="1234440"/>
          </a:xfrm>
          <a:prstGeom prst="roundRect">
            <a:avLst>
              <a:gd name="adj" fmla="val 7407"/>
            </a:avLst>
          </a:prstGeom>
          <a:solidFill>
            <a:srgbClr val="EEF2F6"/>
          </a:solidFill>
          <a:ln w="12700">
            <a:solidFill>
              <a:srgbClr val="EEF2F6"/>
            </a:solidFill>
            <a:prstDash val="solid"/>
          </a:ln>
        </p:spPr>
        <p:txBody>
          <a:bodyPr/>
          <a:lstStyle/>
          <a:p>
            <a:endParaRPr lang="en-US"/>
          </a:p>
        </p:txBody>
      </p:sp>
      <p:sp>
        <p:nvSpPr>
          <p:cNvPr id="8" name="Text 6"/>
          <p:cNvSpPr txBox="1"/>
          <p:nvPr/>
        </p:nvSpPr>
        <p:spPr>
          <a:xfrm>
            <a:off x="3383280" y="1664208"/>
            <a:ext cx="2651760" cy="640080"/>
          </a:xfrm>
          <a:prstGeom prst="rect">
            <a:avLst/>
          </a:prstGeom>
          <a:noFill/>
          <a:ln/>
        </p:spPr>
        <p:txBody>
          <a:bodyPr wrap="square" lIns="0" tIns="0" rIns="0" bIns="0" rtlCol="0" anchor="ctr"/>
          <a:lstStyle/>
          <a:p>
            <a:pPr marL="0" indent="0" algn="ctr">
              <a:buNone/>
            </a:pPr>
            <a:r>
              <a:rPr lang="en-US" sz="3200" b="1" dirty="0">
                <a:solidFill>
                  <a:srgbClr val="1B2A4A"/>
                </a:solidFill>
                <a:latin typeface="Cambria" pitchFamily="34" charset="0"/>
                <a:ea typeface="Cambria" pitchFamily="34" charset="-122"/>
                <a:cs typeface="Cambria" pitchFamily="34" charset="-120"/>
              </a:rPr>
              <a:t>83</a:t>
            </a:r>
            <a:endParaRPr lang="en-US" sz="3200" dirty="0"/>
          </a:p>
        </p:txBody>
      </p:sp>
      <p:sp>
        <p:nvSpPr>
          <p:cNvPr id="9" name="Text 7"/>
          <p:cNvSpPr txBox="1"/>
          <p:nvPr/>
        </p:nvSpPr>
        <p:spPr>
          <a:xfrm>
            <a:off x="3520440" y="2304288"/>
            <a:ext cx="2377440" cy="411480"/>
          </a:xfrm>
          <a:prstGeom prst="rect">
            <a:avLst/>
          </a:prstGeom>
          <a:noFill/>
          <a:ln/>
        </p:spPr>
        <p:txBody>
          <a:bodyPr wrap="square" lIns="0" tIns="0" rIns="0" bIns="0" rtlCol="0" anchor="ctr"/>
          <a:lstStyle/>
          <a:p>
            <a:pPr marL="0" indent="0" algn="ctr">
              <a:buNone/>
            </a:pPr>
            <a:r>
              <a:rPr lang="en-US" sz="1200" dirty="0">
                <a:solidFill>
                  <a:srgbClr val="666666"/>
                </a:solidFill>
                <a:latin typeface="Calibri" pitchFamily="34" charset="0"/>
                <a:ea typeface="Calibri" pitchFamily="34" charset="-122"/>
                <a:cs typeface="Calibri" pitchFamily="34" charset="-120"/>
              </a:rPr>
              <a:t>study blocks, each citing its paper</a:t>
            </a:r>
            <a:endParaRPr lang="en-US" sz="1200" dirty="0"/>
          </a:p>
        </p:txBody>
      </p:sp>
      <p:sp>
        <p:nvSpPr>
          <p:cNvPr id="10" name="Shape 8"/>
          <p:cNvSpPr/>
          <p:nvPr/>
        </p:nvSpPr>
        <p:spPr>
          <a:xfrm>
            <a:off x="6217920" y="1554480"/>
            <a:ext cx="2651760" cy="1234440"/>
          </a:xfrm>
          <a:prstGeom prst="roundRect">
            <a:avLst>
              <a:gd name="adj" fmla="val 7407"/>
            </a:avLst>
          </a:prstGeom>
          <a:solidFill>
            <a:srgbClr val="EEF2F6"/>
          </a:solidFill>
          <a:ln w="12700">
            <a:solidFill>
              <a:srgbClr val="EEF2F6"/>
            </a:solidFill>
            <a:prstDash val="solid"/>
          </a:ln>
        </p:spPr>
        <p:txBody>
          <a:bodyPr/>
          <a:lstStyle/>
          <a:p>
            <a:endParaRPr lang="en-US"/>
          </a:p>
        </p:txBody>
      </p:sp>
      <p:sp>
        <p:nvSpPr>
          <p:cNvPr id="11" name="Text 9"/>
          <p:cNvSpPr txBox="1"/>
          <p:nvPr/>
        </p:nvSpPr>
        <p:spPr>
          <a:xfrm>
            <a:off x="6217920" y="1664208"/>
            <a:ext cx="2651760" cy="640080"/>
          </a:xfrm>
          <a:prstGeom prst="rect">
            <a:avLst/>
          </a:prstGeom>
          <a:noFill/>
          <a:ln/>
        </p:spPr>
        <p:txBody>
          <a:bodyPr wrap="square" lIns="0" tIns="0" rIns="0" bIns="0" rtlCol="0" anchor="ctr"/>
          <a:lstStyle/>
          <a:p>
            <a:pPr marL="0" indent="0" algn="ctr">
              <a:buNone/>
            </a:pPr>
            <a:r>
              <a:rPr lang="en-US" sz="3200" b="1" dirty="0">
                <a:solidFill>
                  <a:srgbClr val="1B2A4A"/>
                </a:solidFill>
                <a:latin typeface="Cambria" pitchFamily="34" charset="0"/>
                <a:ea typeface="Cambria" pitchFamily="34" charset="-122"/>
                <a:cs typeface="Cambria" pitchFamily="34" charset="-120"/>
              </a:rPr>
              <a:t>17 + 1</a:t>
            </a:r>
            <a:endParaRPr lang="en-US" sz="3200" dirty="0"/>
          </a:p>
        </p:txBody>
      </p:sp>
      <p:sp>
        <p:nvSpPr>
          <p:cNvPr id="12" name="Text 10"/>
          <p:cNvSpPr txBox="1"/>
          <p:nvPr/>
        </p:nvSpPr>
        <p:spPr>
          <a:xfrm>
            <a:off x="6355080" y="2304288"/>
            <a:ext cx="2377440" cy="411480"/>
          </a:xfrm>
          <a:prstGeom prst="rect">
            <a:avLst/>
          </a:prstGeom>
          <a:noFill/>
          <a:ln/>
        </p:spPr>
        <p:txBody>
          <a:bodyPr wrap="square" lIns="0" tIns="0" rIns="0" bIns="0" rtlCol="0" anchor="ctr"/>
          <a:lstStyle/>
          <a:p>
            <a:pPr marL="0" indent="0" algn="ctr">
              <a:buNone/>
            </a:pPr>
            <a:r>
              <a:rPr lang="en-US" sz="1200" dirty="0">
                <a:solidFill>
                  <a:srgbClr val="666666"/>
                </a:solidFill>
                <a:latin typeface="Calibri" pitchFamily="34" charset="0"/>
                <a:ea typeface="Calibri" pitchFamily="34" charset="-122"/>
                <a:cs typeface="Calibri" pitchFamily="34" charset="-120"/>
              </a:rPr>
              <a:t>raw mix variables + specimen type</a:t>
            </a:r>
            <a:endParaRPr lang="en-US" sz="1200" dirty="0"/>
          </a:p>
        </p:txBody>
      </p:sp>
      <p:sp>
        <p:nvSpPr>
          <p:cNvPr id="13" name="Shape 11"/>
          <p:cNvSpPr/>
          <p:nvPr/>
        </p:nvSpPr>
        <p:spPr>
          <a:xfrm>
            <a:off x="9052560" y="1554480"/>
            <a:ext cx="2560320" cy="1234440"/>
          </a:xfrm>
          <a:prstGeom prst="roundRect">
            <a:avLst>
              <a:gd name="adj" fmla="val 7407"/>
            </a:avLst>
          </a:prstGeom>
          <a:solidFill>
            <a:srgbClr val="EEF2F6"/>
          </a:solidFill>
          <a:ln w="12700">
            <a:solidFill>
              <a:srgbClr val="EEF2F6"/>
            </a:solidFill>
            <a:prstDash val="solid"/>
          </a:ln>
        </p:spPr>
        <p:txBody>
          <a:bodyPr/>
          <a:lstStyle/>
          <a:p>
            <a:endParaRPr lang="en-US"/>
          </a:p>
        </p:txBody>
      </p:sp>
      <p:sp>
        <p:nvSpPr>
          <p:cNvPr id="14" name="Text 12"/>
          <p:cNvSpPr txBox="1"/>
          <p:nvPr/>
        </p:nvSpPr>
        <p:spPr>
          <a:xfrm>
            <a:off x="9052560" y="1664208"/>
            <a:ext cx="2560320" cy="640080"/>
          </a:xfrm>
          <a:prstGeom prst="rect">
            <a:avLst/>
          </a:prstGeom>
          <a:noFill/>
          <a:ln/>
        </p:spPr>
        <p:txBody>
          <a:bodyPr wrap="square" lIns="0" tIns="0" rIns="0" bIns="0" rtlCol="0" anchor="ctr"/>
          <a:lstStyle/>
          <a:p>
            <a:pPr marL="0" indent="0" algn="ctr">
              <a:buNone/>
            </a:pPr>
            <a:r>
              <a:rPr lang="en-US" sz="3200" b="1" dirty="0">
                <a:solidFill>
                  <a:srgbClr val="1B2A4A"/>
                </a:solidFill>
                <a:latin typeface="Cambria" pitchFamily="34" charset="0"/>
                <a:ea typeface="Cambria" pitchFamily="34" charset="-122"/>
                <a:cs typeface="Cambria" pitchFamily="34" charset="-120"/>
              </a:rPr>
              <a:t>CC BY 4.0</a:t>
            </a:r>
            <a:endParaRPr lang="en-US" sz="3200" dirty="0"/>
          </a:p>
        </p:txBody>
      </p:sp>
      <p:sp>
        <p:nvSpPr>
          <p:cNvPr id="15" name="Text 13"/>
          <p:cNvSpPr txBox="1"/>
          <p:nvPr/>
        </p:nvSpPr>
        <p:spPr>
          <a:xfrm>
            <a:off x="9189720" y="2304288"/>
            <a:ext cx="2286000" cy="411480"/>
          </a:xfrm>
          <a:prstGeom prst="rect">
            <a:avLst/>
          </a:prstGeom>
          <a:noFill/>
          <a:ln/>
        </p:spPr>
        <p:txBody>
          <a:bodyPr wrap="square" lIns="0" tIns="0" rIns="0" bIns="0" rtlCol="0" anchor="ctr"/>
          <a:lstStyle/>
          <a:p>
            <a:pPr marL="0" indent="0" algn="ctr">
              <a:buNone/>
            </a:pPr>
            <a:r>
              <a:rPr lang="en-US" sz="1200" dirty="0">
                <a:solidFill>
                  <a:srgbClr val="666666"/>
                </a:solidFill>
                <a:latin typeface="Calibri" pitchFamily="34" charset="0"/>
                <a:ea typeface="Calibri" pitchFamily="34" charset="-122"/>
                <a:cs typeface="Calibri" pitchFamily="34" charset="-120"/>
              </a:rPr>
              <a:t>open licence (PLOS ONE)</a:t>
            </a:r>
            <a:endParaRPr lang="en-US" sz="1200" dirty="0"/>
          </a:p>
        </p:txBody>
      </p:sp>
      <p:sp>
        <p:nvSpPr>
          <p:cNvPr id="16" name="Text 14"/>
          <p:cNvSpPr txBox="1"/>
          <p:nvPr/>
        </p:nvSpPr>
        <p:spPr>
          <a:xfrm>
            <a:off x="548640" y="3017520"/>
            <a:ext cx="11064240" cy="365760"/>
          </a:xfrm>
          <a:prstGeom prst="rect">
            <a:avLst/>
          </a:prstGeom>
          <a:noFill/>
          <a:ln/>
        </p:spPr>
        <p:txBody>
          <a:bodyPr wrap="square" lIns="0" tIns="0" rIns="0" bIns="0" rtlCol="0" anchor="ctr"/>
          <a:lstStyle/>
          <a:p>
            <a:pPr marL="0" indent="0">
              <a:buNone/>
            </a:pPr>
            <a:r>
              <a:rPr lang="en-US" sz="1300" dirty="0">
                <a:solidFill>
                  <a:srgbClr val="222222"/>
                </a:solidFill>
                <a:latin typeface="Calibri" pitchFamily="34" charset="0"/>
                <a:ea typeface="Calibri" pitchFamily="34" charset="-122"/>
                <a:cs typeface="Calibri" pitchFamily="34" charset="-120"/>
              </a:rPr>
              <a:t>Jiang, Zhao, Jin, Ye, Luan &amp; Tufail (2024), PLOS ONE 19(9): e0310422, S1 Table (file pone.0310422.s002.xlsx) — downloaded 29 Sep 2026</a:t>
            </a:r>
            <a:endParaRPr lang="en-US" sz="1300" dirty="0"/>
          </a:p>
        </p:txBody>
      </p:sp>
      <p:sp>
        <p:nvSpPr>
          <p:cNvPr id="17" name="Text 15"/>
          <p:cNvSpPr txBox="1"/>
          <p:nvPr/>
        </p:nvSpPr>
        <p:spPr>
          <a:xfrm>
            <a:off x="548640" y="3520440"/>
            <a:ext cx="749808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How it was collected: the authors searched Web of Science and Google Scholar, kept only studies reporting every key variable (fly-ash chemistry, mix proportions, activator composition, curing, specimen type, strength), and transcribed 1,136 mixes into one spreadsheet, each block of rows citing its source paper (83 blocks; one paper appears under two spellings).</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Task: supervised regression, strength (1–87 MPa) from composition and curing.</a:t>
            </a:r>
            <a:endParaRPr lang="en-US" sz="1400" dirty="0"/>
          </a:p>
          <a:p>
            <a:pPr marL="342900" indent="-342900">
              <a:spcAft>
                <a:spcPts val="600"/>
              </a:spcAft>
              <a:buSzPct val="100000"/>
              <a:buChar char="•"/>
            </a:pPr>
            <a:r>
              <a:rPr lang="en-US" sz="1400" dirty="0">
                <a:solidFill>
                  <a:srgbClr val="222222"/>
                </a:solidFill>
                <a:latin typeface="Calibri" pitchFamily="34" charset="0"/>
                <a:ea typeface="Calibri" pitchFamily="34" charset="-122"/>
                <a:cs typeface="Calibri" pitchFamily="34" charset="-120"/>
              </a:rPr>
              <a:t>Thesis link: my dissertation predicts the constitutive quantities of geopolymer concrete (fracture energy, softening shape) from exactly these inputs, and validates by holding out whole studies. This assignment is that pipeline, tested first on the one target the literature has already compiled.</a:t>
            </a:r>
            <a:endParaRPr lang="en-US" sz="1400" dirty="0"/>
          </a:p>
        </p:txBody>
      </p:sp>
      <p:sp>
        <p:nvSpPr>
          <p:cNvPr id="18" name="Shape 16"/>
          <p:cNvSpPr/>
          <p:nvPr/>
        </p:nvSpPr>
        <p:spPr>
          <a:xfrm>
            <a:off x="8412480" y="3520440"/>
            <a:ext cx="3200400" cy="2651760"/>
          </a:xfrm>
          <a:prstGeom prst="roundRect">
            <a:avLst>
              <a:gd name="adj" fmla="val 3448"/>
            </a:avLst>
          </a:prstGeom>
          <a:solidFill>
            <a:srgbClr val="1B2A4A"/>
          </a:solidFill>
          <a:ln w="12700">
            <a:solidFill>
              <a:srgbClr val="1B2A4A"/>
            </a:solidFill>
            <a:prstDash val="solid"/>
          </a:ln>
        </p:spPr>
        <p:txBody>
          <a:bodyPr/>
          <a:lstStyle/>
          <a:p>
            <a:endParaRPr lang="en-US"/>
          </a:p>
        </p:txBody>
      </p:sp>
      <p:sp>
        <p:nvSpPr>
          <p:cNvPr id="19" name="Text 17"/>
          <p:cNvSpPr txBox="1"/>
          <p:nvPr/>
        </p:nvSpPr>
        <p:spPr>
          <a:xfrm>
            <a:off x="8595360" y="3703320"/>
            <a:ext cx="2834640" cy="22860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Repository</a:t>
            </a:r>
            <a:endParaRPr lang="en-US" sz="1400" dirty="0"/>
          </a:p>
          <a:p>
            <a:pPr marL="0" indent="0">
              <a:buNone/>
            </a:pPr>
            <a:r>
              <a:rPr lang="en-US" sz="1200" dirty="0">
                <a:solidFill>
                  <a:srgbClr val="9BB7CF"/>
                </a:solidFill>
                <a:latin typeface="Calibri" pitchFamily="34" charset="0"/>
                <a:ea typeface="Calibri" pitchFamily="34" charset="-122"/>
                <a:cs typeface="Calibri" pitchFamily="34" charset="-120"/>
              </a:rPr>
              <a:t>github.com/Hakem3011/csbp711-gpc</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400" b="1" dirty="0">
                <a:solidFill>
                  <a:srgbClr val="FFFFFF"/>
                </a:solidFill>
                <a:latin typeface="Calibri" pitchFamily="34" charset="0"/>
                <a:ea typeface="Calibri" pitchFamily="34" charset="-122"/>
                <a:cs typeface="Calibri" pitchFamily="34" charset="-120"/>
              </a:rPr>
              <a:t>Working alone</a:t>
            </a:r>
            <a:endParaRPr lang="en-US" sz="1400" dirty="0"/>
          </a:p>
          <a:p>
            <a:pPr marL="0" indent="0">
              <a:buNone/>
            </a:pPr>
            <a:r>
              <a:rPr lang="en-US" sz="1200" dirty="0">
                <a:solidFill>
                  <a:srgbClr val="9BB7CF"/>
                </a:solidFill>
                <a:latin typeface="Calibri" pitchFamily="34" charset="0"/>
                <a:ea typeface="Calibri" pitchFamily="34" charset="-122"/>
                <a:cs typeface="Calibri" pitchFamily="34" charset="-120"/>
              </a:rPr>
              <a:t>Dataset and pipeline feed directly into the dissertation (WP3)</a:t>
            </a:r>
            <a:endParaRPr lang="en-US" sz="1400" dirty="0"/>
          </a:p>
        </p:txBody>
      </p:sp>
      <p:sp>
        <p:nvSpPr>
          <p:cNvPr id="20" name="Text 18"/>
          <p:cNvSpPr txBox="1"/>
          <p:nvPr/>
        </p:nvSpPr>
        <p:spPr>
          <a:xfrm>
            <a:off x="548640" y="6400800"/>
            <a:ext cx="11064240" cy="274320"/>
          </a:xfrm>
          <a:prstGeom prst="rect">
            <a:avLst/>
          </a:prstGeom>
          <a:noFill/>
          <a:ln/>
        </p:spPr>
        <p:txBody>
          <a:bodyPr wrap="square" lIns="0" tIns="0" rIns="0" bIns="0" rtlCol="0" anchor="ctr"/>
          <a:lstStyle/>
          <a:p>
            <a:pPr marL="0" indent="0">
              <a:buNone/>
            </a:pPr>
            <a:r>
              <a:rPr lang="en-US" sz="900" dirty="0">
                <a:solidFill>
                  <a:srgbClr val="666666"/>
                </a:solidFill>
                <a:latin typeface="Calibri" pitchFamily="34" charset="0"/>
                <a:ea typeface="Calibri" pitchFamily="34" charset="-122"/>
                <a:cs typeface="Calibri" pitchFamily="34" charset="-120"/>
              </a:rPr>
              <a:t>CSBP 711 · Assignment 1 · Hakem Alkhraisha · 1/5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Handling the data: size, features, splits, balance, problems</a:t>
            </a:r>
            <a:endParaRPr lang="en-US" sz="3000" dirty="0"/>
          </a:p>
        </p:txBody>
      </p:sp>
      <p:sp>
        <p:nvSpPr>
          <p:cNvPr id="3" name="Text 1"/>
          <p:cNvSpPr txBox="1"/>
          <p:nvPr/>
        </p:nvSpPr>
        <p:spPr>
          <a:xfrm>
            <a:off x="548640" y="1005840"/>
            <a:ext cx="11064240" cy="365760"/>
          </a:xfrm>
          <a:prstGeom prst="rect">
            <a:avLst/>
          </a:prstGeom>
          <a:noFill/>
          <a:ln/>
        </p:spPr>
        <p:txBody>
          <a:bodyPr wrap="square" lIns="0" tIns="0" rIns="0" bIns="0" rtlCol="0" anchor="ctr"/>
          <a:lstStyle/>
          <a:p>
            <a:pPr marL="0" indent="0">
              <a:buNone/>
            </a:pPr>
            <a:r>
              <a:rPr lang="en-US" sz="1400" dirty="0">
                <a:solidFill>
                  <a:srgbClr val="666666"/>
                </a:solidFill>
                <a:latin typeface="Calibri" pitchFamily="34" charset="0"/>
                <a:ea typeface="Calibri" pitchFamily="34" charset="-122"/>
                <a:cs typeface="Calibri" pitchFamily="34" charset="-120"/>
              </a:rPr>
              <a:t>Everything below is produced by run_jiang.py and written to results/data_audit.txt</a:t>
            </a:r>
            <a:endParaRPr lang="en-US" sz="1400" dirty="0"/>
          </a:p>
        </p:txBody>
      </p:sp>
      <p:sp>
        <p:nvSpPr>
          <p:cNvPr id="4" name="Shape 2"/>
          <p:cNvSpPr/>
          <p:nvPr/>
        </p:nvSpPr>
        <p:spPr>
          <a:xfrm>
            <a:off x="548640" y="1463040"/>
            <a:ext cx="2651760" cy="960120"/>
          </a:xfrm>
          <a:prstGeom prst="roundRect">
            <a:avLst>
              <a:gd name="adj" fmla="val 7619"/>
            </a:avLst>
          </a:prstGeom>
          <a:solidFill>
            <a:srgbClr val="EEF2F6"/>
          </a:solidFill>
          <a:ln w="12700">
            <a:solidFill>
              <a:srgbClr val="EEF2F6"/>
            </a:solidFill>
            <a:prstDash val="solid"/>
          </a:ln>
        </p:spPr>
        <p:txBody>
          <a:bodyPr/>
          <a:lstStyle/>
          <a:p>
            <a:endParaRPr lang="en-US"/>
          </a:p>
        </p:txBody>
      </p:sp>
      <p:sp>
        <p:nvSpPr>
          <p:cNvPr id="5" name="Text 3"/>
          <p:cNvSpPr txBox="1"/>
          <p:nvPr/>
        </p:nvSpPr>
        <p:spPr>
          <a:xfrm>
            <a:off x="685800" y="1508760"/>
            <a:ext cx="2377440" cy="274320"/>
          </a:xfrm>
          <a:prstGeom prst="rect">
            <a:avLst/>
          </a:prstGeom>
          <a:noFill/>
          <a:ln/>
        </p:spPr>
        <p:txBody>
          <a:bodyPr wrap="square" lIns="0" tIns="0" rIns="0" bIns="0" rtlCol="0" anchor="ctr"/>
          <a:lstStyle/>
          <a:p>
            <a:pPr marL="0" indent="0">
              <a:buNone/>
            </a:pPr>
            <a:r>
              <a:rPr lang="en-US" sz="1300" b="1" dirty="0">
                <a:solidFill>
                  <a:srgbClr val="1B2A4A"/>
                </a:solidFill>
                <a:latin typeface="Cambria" pitchFamily="34" charset="0"/>
                <a:ea typeface="Cambria" pitchFamily="34" charset="-122"/>
                <a:cs typeface="Cambria" pitchFamily="34" charset="-120"/>
              </a:rPr>
              <a:t>Size</a:t>
            </a:r>
            <a:endParaRPr lang="en-US" sz="1300" dirty="0"/>
          </a:p>
        </p:txBody>
      </p:sp>
      <p:sp>
        <p:nvSpPr>
          <p:cNvPr id="6" name="Text 4"/>
          <p:cNvSpPr txBox="1"/>
          <p:nvPr/>
        </p:nvSpPr>
        <p:spPr>
          <a:xfrm>
            <a:off x="685800" y="1783080"/>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1,136 rows × 41 columns as published</a:t>
            </a:r>
            <a:endParaRPr lang="en-US" sz="1050" dirty="0"/>
          </a:p>
          <a:p>
            <a:pPr marL="0" indent="0">
              <a:buNone/>
            </a:pPr>
            <a:r>
              <a:rPr lang="en-US" sz="1050" dirty="0">
                <a:solidFill>
                  <a:srgbClr val="222222"/>
                </a:solidFill>
                <a:latin typeface="Calibri" pitchFamily="34" charset="0"/>
                <a:ea typeface="Calibri" pitchFamily="34" charset="-122"/>
                <a:cs typeface="Calibri" pitchFamily="34" charset="-120"/>
              </a:rPr>
              <a:t>1,122 rows used after duplicates</a:t>
            </a:r>
            <a:endParaRPr lang="en-US" sz="1050" dirty="0"/>
          </a:p>
        </p:txBody>
      </p:sp>
      <p:sp>
        <p:nvSpPr>
          <p:cNvPr id="7" name="Shape 5"/>
          <p:cNvSpPr/>
          <p:nvPr/>
        </p:nvSpPr>
        <p:spPr>
          <a:xfrm>
            <a:off x="3337560" y="1463040"/>
            <a:ext cx="2651760" cy="960120"/>
          </a:xfrm>
          <a:prstGeom prst="roundRect">
            <a:avLst>
              <a:gd name="adj" fmla="val 7619"/>
            </a:avLst>
          </a:prstGeom>
          <a:solidFill>
            <a:srgbClr val="EEF2F6"/>
          </a:solidFill>
          <a:ln w="12700">
            <a:solidFill>
              <a:srgbClr val="EEF2F6"/>
            </a:solidFill>
            <a:prstDash val="solid"/>
          </a:ln>
        </p:spPr>
        <p:txBody>
          <a:bodyPr/>
          <a:lstStyle/>
          <a:p>
            <a:endParaRPr lang="en-US"/>
          </a:p>
        </p:txBody>
      </p:sp>
      <p:sp>
        <p:nvSpPr>
          <p:cNvPr id="8" name="Text 6"/>
          <p:cNvSpPr txBox="1"/>
          <p:nvPr/>
        </p:nvSpPr>
        <p:spPr>
          <a:xfrm>
            <a:off x="3474720" y="1508760"/>
            <a:ext cx="2377440" cy="274320"/>
          </a:xfrm>
          <a:prstGeom prst="rect">
            <a:avLst/>
          </a:prstGeom>
          <a:noFill/>
          <a:ln/>
        </p:spPr>
        <p:txBody>
          <a:bodyPr wrap="square" lIns="0" tIns="0" rIns="0" bIns="0" rtlCol="0" anchor="ctr"/>
          <a:lstStyle/>
          <a:p>
            <a:pPr marL="0" indent="0">
              <a:buNone/>
            </a:pPr>
            <a:r>
              <a:rPr lang="en-US" sz="1300" b="1" dirty="0">
                <a:solidFill>
                  <a:srgbClr val="1B2A4A"/>
                </a:solidFill>
                <a:latin typeface="Cambria" pitchFamily="34" charset="0"/>
                <a:ea typeface="Cambria" pitchFamily="34" charset="-122"/>
                <a:cs typeface="Cambria" pitchFamily="34" charset="-120"/>
              </a:rPr>
              <a:t>Features</a:t>
            </a:r>
            <a:endParaRPr lang="en-US" sz="1300" dirty="0"/>
          </a:p>
        </p:txBody>
      </p:sp>
      <p:sp>
        <p:nvSpPr>
          <p:cNvPr id="9" name="Text 7"/>
          <p:cNvSpPr txBox="1"/>
          <p:nvPr/>
        </p:nvSpPr>
        <p:spPr>
          <a:xfrm>
            <a:off x="3474720" y="1783080"/>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18 used: 17 numeric mix variables</a:t>
            </a:r>
            <a:endParaRPr lang="en-US" sz="1050" dirty="0"/>
          </a:p>
          <a:p>
            <a:pPr marL="0" indent="0">
              <a:buNone/>
            </a:pPr>
            <a:r>
              <a:rPr lang="en-US" sz="1050" dirty="0">
                <a:solidFill>
                  <a:srgbClr val="222222"/>
                </a:solidFill>
                <a:latin typeface="Calibri" pitchFamily="34" charset="0"/>
                <a:ea typeface="Calibri" pitchFamily="34" charset="-122"/>
                <a:cs typeface="Calibri" pitchFamily="34" charset="-120"/>
              </a:rPr>
              <a:t>+ specimen type (cube / cylinder)</a:t>
            </a:r>
            <a:endParaRPr lang="en-US" sz="1050" dirty="0"/>
          </a:p>
        </p:txBody>
      </p:sp>
      <p:sp>
        <p:nvSpPr>
          <p:cNvPr id="10" name="Shape 8"/>
          <p:cNvSpPr/>
          <p:nvPr/>
        </p:nvSpPr>
        <p:spPr>
          <a:xfrm>
            <a:off x="6126480" y="1463040"/>
            <a:ext cx="2651760" cy="960120"/>
          </a:xfrm>
          <a:prstGeom prst="roundRect">
            <a:avLst>
              <a:gd name="adj" fmla="val 7619"/>
            </a:avLst>
          </a:prstGeom>
          <a:solidFill>
            <a:srgbClr val="EEF2F6"/>
          </a:solidFill>
          <a:ln w="12700">
            <a:solidFill>
              <a:srgbClr val="EEF2F6"/>
            </a:solidFill>
            <a:prstDash val="solid"/>
          </a:ln>
        </p:spPr>
        <p:txBody>
          <a:bodyPr/>
          <a:lstStyle/>
          <a:p>
            <a:endParaRPr lang="en-US"/>
          </a:p>
        </p:txBody>
      </p:sp>
      <p:sp>
        <p:nvSpPr>
          <p:cNvPr id="11" name="Text 9"/>
          <p:cNvSpPr txBox="1"/>
          <p:nvPr/>
        </p:nvSpPr>
        <p:spPr>
          <a:xfrm>
            <a:off x="6263640" y="1508760"/>
            <a:ext cx="2377440" cy="274320"/>
          </a:xfrm>
          <a:prstGeom prst="rect">
            <a:avLst/>
          </a:prstGeom>
          <a:noFill/>
          <a:ln/>
        </p:spPr>
        <p:txBody>
          <a:bodyPr wrap="square" lIns="0" tIns="0" rIns="0" bIns="0" rtlCol="0" anchor="ctr"/>
          <a:lstStyle/>
          <a:p>
            <a:pPr marL="0" indent="0">
              <a:buNone/>
            </a:pPr>
            <a:r>
              <a:rPr lang="en-US" sz="1300" b="1" dirty="0">
                <a:solidFill>
                  <a:srgbClr val="1B2A4A"/>
                </a:solidFill>
                <a:latin typeface="Cambria" pitchFamily="34" charset="0"/>
                <a:ea typeface="Cambria" pitchFamily="34" charset="-122"/>
                <a:cs typeface="Cambria" pitchFamily="34" charset="-120"/>
              </a:rPr>
              <a:t>Splits</a:t>
            </a:r>
            <a:endParaRPr lang="en-US" sz="1300" dirty="0"/>
          </a:p>
        </p:txBody>
      </p:sp>
      <p:sp>
        <p:nvSpPr>
          <p:cNvPr id="12" name="Text 10"/>
          <p:cNvSpPr txBox="1"/>
          <p:nvPr/>
        </p:nvSpPr>
        <p:spPr>
          <a:xfrm>
            <a:off x="6263640" y="1783080"/>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5-fold random, and 5-fold holding out</a:t>
            </a:r>
            <a:endParaRPr lang="en-US" sz="1050" dirty="0"/>
          </a:p>
          <a:p>
            <a:pPr marL="0" indent="0">
              <a:buNone/>
            </a:pPr>
            <a:r>
              <a:rPr lang="en-US" sz="1050" dirty="0">
                <a:solidFill>
                  <a:srgbClr val="222222"/>
                </a:solidFill>
                <a:latin typeface="Calibri" pitchFamily="34" charset="0"/>
                <a:ea typeface="Calibri" pitchFamily="34" charset="-122"/>
                <a:cs typeface="Calibri" pitchFamily="34" charset="-120"/>
              </a:rPr>
              <a:t>whole study blocks (less leaky), seed 42</a:t>
            </a:r>
            <a:endParaRPr lang="en-US" sz="1050" dirty="0"/>
          </a:p>
        </p:txBody>
      </p:sp>
      <p:sp>
        <p:nvSpPr>
          <p:cNvPr id="13" name="Shape 11"/>
          <p:cNvSpPr/>
          <p:nvPr/>
        </p:nvSpPr>
        <p:spPr>
          <a:xfrm>
            <a:off x="8915400" y="1463040"/>
            <a:ext cx="2651760" cy="960120"/>
          </a:xfrm>
          <a:prstGeom prst="roundRect">
            <a:avLst>
              <a:gd name="adj" fmla="val 7619"/>
            </a:avLst>
          </a:prstGeom>
          <a:solidFill>
            <a:srgbClr val="EEF2F6"/>
          </a:solidFill>
          <a:ln w="12700">
            <a:solidFill>
              <a:srgbClr val="EEF2F6"/>
            </a:solidFill>
            <a:prstDash val="solid"/>
          </a:ln>
        </p:spPr>
        <p:txBody>
          <a:bodyPr/>
          <a:lstStyle/>
          <a:p>
            <a:endParaRPr lang="en-US"/>
          </a:p>
        </p:txBody>
      </p:sp>
      <p:sp>
        <p:nvSpPr>
          <p:cNvPr id="14" name="Text 12"/>
          <p:cNvSpPr txBox="1"/>
          <p:nvPr/>
        </p:nvSpPr>
        <p:spPr>
          <a:xfrm>
            <a:off x="9052560" y="1508760"/>
            <a:ext cx="2377440" cy="274320"/>
          </a:xfrm>
          <a:prstGeom prst="rect">
            <a:avLst/>
          </a:prstGeom>
          <a:noFill/>
          <a:ln/>
        </p:spPr>
        <p:txBody>
          <a:bodyPr wrap="square" lIns="0" tIns="0" rIns="0" bIns="0" rtlCol="0" anchor="ctr"/>
          <a:lstStyle/>
          <a:p>
            <a:pPr marL="0" indent="0">
              <a:buNone/>
            </a:pPr>
            <a:r>
              <a:rPr lang="en-US" sz="1300" b="1" dirty="0">
                <a:solidFill>
                  <a:srgbClr val="1B2A4A"/>
                </a:solidFill>
                <a:latin typeface="Cambria" pitchFamily="34" charset="0"/>
                <a:ea typeface="Cambria" pitchFamily="34" charset="-122"/>
                <a:cs typeface="Cambria" pitchFamily="34" charset="-120"/>
              </a:rPr>
              <a:t>Balance</a:t>
            </a:r>
            <a:endParaRPr lang="en-US" sz="1300" dirty="0"/>
          </a:p>
        </p:txBody>
      </p:sp>
      <p:sp>
        <p:nvSpPr>
          <p:cNvPr id="15" name="Text 13"/>
          <p:cNvSpPr txBox="1"/>
          <p:nvPr/>
        </p:nvSpPr>
        <p:spPr>
          <a:xfrm>
            <a:off x="9052560" y="1783080"/>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Regression, no classes. Strength 1–87 MPa,</a:t>
            </a:r>
            <a:endParaRPr lang="en-US" sz="1050" dirty="0"/>
          </a:p>
          <a:p>
            <a:pPr marL="0" indent="0">
              <a:buNone/>
            </a:pPr>
            <a:r>
              <a:rPr lang="en-US" sz="1050" dirty="0">
                <a:solidFill>
                  <a:srgbClr val="222222"/>
                </a:solidFill>
                <a:latin typeface="Calibri" pitchFamily="34" charset="0"/>
                <a:ea typeface="Calibri" pitchFamily="34" charset="-122"/>
                <a:cs typeface="Calibri" pitchFamily="34" charset="-120"/>
              </a:rPr>
              <a:t>mean 36.5; cubes 683 / cylinders 439</a:t>
            </a:r>
            <a:endParaRPr lang="en-US" sz="1050" dirty="0"/>
          </a:p>
        </p:txBody>
      </p:sp>
      <p:sp>
        <p:nvSpPr>
          <p:cNvPr id="16" name="Text 14"/>
          <p:cNvSpPr txBox="1"/>
          <p:nvPr/>
        </p:nvSpPr>
        <p:spPr>
          <a:xfrm>
            <a:off x="548640" y="2606040"/>
            <a:ext cx="6400800" cy="320040"/>
          </a:xfrm>
          <a:prstGeom prst="rect">
            <a:avLst/>
          </a:prstGeom>
          <a:noFill/>
          <a:ln/>
        </p:spPr>
        <p:txBody>
          <a:bodyPr wrap="square" lIns="0" tIns="0" rIns="0" bIns="0" rtlCol="0" anchor="ctr"/>
          <a:lstStyle/>
          <a:p>
            <a:pPr marL="0" indent="0">
              <a:buNone/>
            </a:pPr>
            <a:r>
              <a:rPr lang="en-US" sz="1500" b="1" dirty="0">
                <a:solidFill>
                  <a:srgbClr val="1B2A4A"/>
                </a:solidFill>
                <a:latin typeface="Cambria" pitchFamily="34" charset="0"/>
                <a:ea typeface="Cambria" pitchFamily="34" charset="-122"/>
                <a:cs typeface="Cambria" pitchFamily="34" charset="-120"/>
              </a:rPr>
              <a:t>Problems found, and what was done</a:t>
            </a:r>
            <a:endParaRPr lang="en-US" sz="1500" dirty="0"/>
          </a:p>
        </p:txBody>
      </p:sp>
      <p:sp>
        <p:nvSpPr>
          <p:cNvPr id="17" name="Text 15"/>
          <p:cNvSpPr txBox="1"/>
          <p:nvPr/>
        </p:nvSpPr>
        <p:spPr>
          <a:xfrm>
            <a:off x="548640" y="2971800"/>
            <a:ext cx="6400800" cy="3291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Block-sparse columns (no merged cells): the reference and the specimen size are written on the first row of each study block only (1,053 blank reference cells) → forward-filled, otherwise every study looks like a single row. Two stray unnamed columns ignored.</a:t>
            </a:r>
            <a:endParaRPr lang="en-US" sz="1200" dirty="0"/>
          </a:p>
          <a:p>
            <a:pPr marL="342900" indent="-342900">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Missing values: NaOH solids and water-in-NaOH missing for 79 % of rows → dropped; molarity 22 % and MgO 15 % missing → median-imputed inside each training fold.</a:t>
            </a:r>
            <a:endParaRPr lang="en-US" sz="1200" dirty="0"/>
          </a:p>
          <a:p>
            <a:pPr marL="342900" indent="-342900">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Duplicates: 14 exact duplicate rows removed.</a:t>
            </a:r>
            <a:endParaRPr lang="en-US" sz="1200" dirty="0"/>
          </a:p>
          <a:p>
            <a:pPr marL="342900" indent="-342900">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Mixed specimens: cube and cylinder strengths in one column → specimen type kept as a feature instead of applying the authors' fixed factors (cylinder × 1.18 below 50 MPa, × 1.04 above).</a:t>
            </a:r>
            <a:endParaRPr lang="en-US" sz="1200" dirty="0"/>
          </a:p>
          <a:p>
            <a:pPr marL="342900" indent="-342900">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Derived columns dropped: the authors' ratios (Na/Al, Si/Al, normalised curing) are functions of kept columns. Limitation: molarity could have been derived from NaOH solids for 239 of the 247 missing rows instead of imputed.</a:t>
            </a:r>
            <a:endParaRPr lang="en-US" sz="1200" dirty="0"/>
          </a:p>
          <a:p>
            <a:pPr marL="342900" indent="-342900">
              <a:spcAft>
                <a:spcPts val="600"/>
              </a:spcAft>
              <a:buSzPct val="100000"/>
              <a:buChar char="•"/>
            </a:pPr>
            <a:r>
              <a:rPr lang="en-US" sz="1200" dirty="0">
                <a:solidFill>
                  <a:srgbClr val="222222"/>
                </a:solidFill>
                <a:latin typeface="Calibri" pitchFamily="34" charset="0"/>
                <a:ea typeface="Calibri" pitchFamily="34" charset="-122"/>
                <a:cs typeface="Calibri" pitchFamily="34" charset="-120"/>
              </a:rPr>
              <a:t>Leakage: one block supplies 113 rows (10 %); rows from one laboratory share materials and procedures, so a random split leaks the laboratory into the test set. The by-study split holds out blocks, not laboratories: 19 % of held-out rows still share their fly-ash fingerprint with a training row, so it removes most, not all, of the leakage.</a:t>
            </a:r>
            <a:endParaRPr lang="en-US" sz="1200" dirty="0"/>
          </a:p>
        </p:txBody>
      </p:sp>
      <p:pic>
        <p:nvPicPr>
          <p:cNvPr id="18" name="Image 0" descr="/home/claude/jiang/figures/F1_data.png"/>
          <p:cNvPicPr>
            <a:picLocks noChangeAspect="1"/>
          </p:cNvPicPr>
          <p:nvPr/>
        </p:nvPicPr>
        <p:blipFill>
          <a:blip r:embed="rId3"/>
          <a:stretch>
            <a:fillRect/>
          </a:stretch>
        </p:blipFill>
        <p:spPr>
          <a:xfrm>
            <a:off x="7223760" y="2606040"/>
            <a:ext cx="4389120" cy="1554480"/>
          </a:xfrm>
          <a:prstGeom prst="rect">
            <a:avLst/>
          </a:prstGeom>
        </p:spPr>
      </p:pic>
      <p:sp>
        <p:nvSpPr>
          <p:cNvPr id="19" name="Text 16"/>
          <p:cNvSpPr txBox="1"/>
          <p:nvPr/>
        </p:nvSpPr>
        <p:spPr>
          <a:xfrm>
            <a:off x="7223760" y="4206240"/>
            <a:ext cx="4389120" cy="457200"/>
          </a:xfrm>
          <a:prstGeom prst="rect">
            <a:avLst/>
          </a:prstGeom>
          <a:noFill/>
          <a:ln/>
        </p:spPr>
        <p:txBody>
          <a:bodyPr wrap="square" lIns="0" tIns="0" rIns="0" bIns="0" rtlCol="0" anchor="ctr"/>
          <a:lstStyle/>
          <a:p>
            <a:pPr marL="0" indent="0">
              <a:buNone/>
            </a:pPr>
            <a:r>
              <a:rPr lang="en-US" sz="1050" dirty="0">
                <a:solidFill>
                  <a:srgbClr val="666666"/>
                </a:solidFill>
                <a:latin typeface="Calibri" pitchFamily="34" charset="0"/>
                <a:ea typeface="Calibri" pitchFamily="34" charset="-122"/>
                <a:cs typeface="Calibri" pitchFamily="34" charset="-120"/>
              </a:rPr>
              <a:t>Strength distribution (left) and mixes per study (right): a long tail of small studies and one dominant source.</a:t>
            </a:r>
            <a:endParaRPr lang="en-US" sz="1050" dirty="0"/>
          </a:p>
        </p:txBody>
      </p:sp>
      <p:sp>
        <p:nvSpPr>
          <p:cNvPr id="20" name="Shape 17"/>
          <p:cNvSpPr/>
          <p:nvPr/>
        </p:nvSpPr>
        <p:spPr>
          <a:xfrm>
            <a:off x="7223760" y="4754880"/>
            <a:ext cx="4389120" cy="1508760"/>
          </a:xfrm>
          <a:prstGeom prst="roundRect">
            <a:avLst>
              <a:gd name="adj" fmla="val 4848"/>
            </a:avLst>
          </a:prstGeom>
          <a:solidFill>
            <a:srgbClr val="EEF2F6"/>
          </a:solidFill>
          <a:ln w="12700">
            <a:solidFill>
              <a:srgbClr val="EEF2F6"/>
            </a:solidFill>
            <a:prstDash val="solid"/>
          </a:ln>
        </p:spPr>
        <p:txBody>
          <a:bodyPr/>
          <a:lstStyle/>
          <a:p>
            <a:endParaRPr lang="en-US"/>
          </a:p>
        </p:txBody>
      </p:sp>
      <p:sp>
        <p:nvSpPr>
          <p:cNvPr id="21" name="Text 18"/>
          <p:cNvSpPr txBox="1"/>
          <p:nvPr/>
        </p:nvSpPr>
        <p:spPr>
          <a:xfrm>
            <a:off x="7360920" y="4846320"/>
            <a:ext cx="4114800" cy="1371600"/>
          </a:xfrm>
          <a:prstGeom prst="rect">
            <a:avLst/>
          </a:prstGeom>
          <a:noFill/>
          <a:ln/>
        </p:spPr>
        <p:txBody>
          <a:bodyPr wrap="square" lIns="0" tIns="0" rIns="0" bIns="0" rtlCol="0" anchor="t"/>
          <a:lstStyle/>
          <a:p>
            <a:pPr marL="0" indent="0">
              <a:buNone/>
            </a:pPr>
            <a:r>
              <a:rPr lang="en-US" sz="1250" b="1" dirty="0">
                <a:solidFill>
                  <a:srgbClr val="1B2A4A"/>
                </a:solidFill>
                <a:latin typeface="Calibri" pitchFamily="34" charset="0"/>
                <a:ea typeface="Calibri" pitchFamily="34" charset="-122"/>
                <a:cs typeface="Calibri" pitchFamily="34" charset="-120"/>
              </a:rPr>
              <a:t>Why the by-study split matters</a:t>
            </a:r>
            <a:endParaRPr lang="en-US" sz="1250" dirty="0"/>
          </a:p>
          <a:p>
            <a:pPr marL="0" indent="0">
              <a:buNone/>
            </a:pPr>
            <a:r>
              <a:rPr lang="en-US" sz="1050" dirty="0">
                <a:solidFill>
                  <a:srgbClr val="222222"/>
                </a:solidFill>
                <a:latin typeface="Calibri" pitchFamily="34" charset="0"/>
                <a:ea typeface="Calibri" pitchFamily="34" charset="-122"/>
                <a:cs typeface="Calibri" pitchFamily="34" charset="-120"/>
              </a:rPr>
              <a:t>A random split puts mixes from the same laboratory on both sides, so a model can score well by recognising the laboratory. Holding out whole study blocks asks what a real user asks: can it predict a mix from a source it has never seen? Not perfectly: some laboratories publish several papers, so part of the leakage survives.</a:t>
            </a:r>
            <a:endParaRPr lang="en-US" sz="1250" dirty="0"/>
          </a:p>
        </p:txBody>
      </p:sp>
      <p:sp>
        <p:nvSpPr>
          <p:cNvPr id="22" name="Text 19"/>
          <p:cNvSpPr txBox="1"/>
          <p:nvPr/>
        </p:nvSpPr>
        <p:spPr>
          <a:xfrm>
            <a:off x="548640" y="6400800"/>
            <a:ext cx="11064240" cy="274320"/>
          </a:xfrm>
          <a:prstGeom prst="rect">
            <a:avLst/>
          </a:prstGeom>
          <a:noFill/>
          <a:ln/>
        </p:spPr>
        <p:txBody>
          <a:bodyPr wrap="square" lIns="0" tIns="0" rIns="0" bIns="0" rtlCol="0" anchor="ctr"/>
          <a:lstStyle/>
          <a:p>
            <a:pPr marL="0" indent="0">
              <a:buNone/>
            </a:pPr>
            <a:r>
              <a:rPr lang="en-US" sz="900" dirty="0">
                <a:solidFill>
                  <a:srgbClr val="666666"/>
                </a:solidFill>
                <a:latin typeface="Calibri" pitchFamily="34" charset="0"/>
                <a:ea typeface="Calibri" pitchFamily="34" charset="-122"/>
                <a:cs typeface="Calibri" pitchFamily="34" charset="-120"/>
              </a:rPr>
              <a:t>CSBP 711 · Assignment 1 · Hakem Alkhraisha ·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Four algorithms, one baseline, one pipeline, one seed</a:t>
            </a:r>
            <a:endParaRPr lang="en-US" sz="3000" dirty="0"/>
          </a:p>
        </p:txBody>
      </p:sp>
      <p:sp>
        <p:nvSpPr>
          <p:cNvPr id="3" name="Text 1"/>
          <p:cNvSpPr txBox="1"/>
          <p:nvPr/>
        </p:nvSpPr>
        <p:spPr>
          <a:xfrm>
            <a:off x="548640" y="1005840"/>
            <a:ext cx="11064240" cy="365760"/>
          </a:xfrm>
          <a:prstGeom prst="rect">
            <a:avLst/>
          </a:prstGeom>
          <a:noFill/>
          <a:ln/>
        </p:spPr>
        <p:txBody>
          <a:bodyPr wrap="square" lIns="0" tIns="0" rIns="0" bIns="0" rtlCol="0" anchor="ctr"/>
          <a:lstStyle/>
          <a:p>
            <a:pPr marL="0" indent="0">
              <a:buNone/>
            </a:pPr>
            <a:r>
              <a:rPr lang="en-US" sz="1400" dirty="0">
                <a:solidFill>
                  <a:srgbClr val="666666"/>
                </a:solidFill>
                <a:latin typeface="Calibri" pitchFamily="34" charset="0"/>
                <a:ea typeface="Calibri" pitchFamily="34" charset="-122"/>
                <a:cs typeface="Calibri" pitchFamily="34" charset="-120"/>
              </a:rPr>
              <a:t>Hyperparameters fixed before any result was seen; nothing tuned on the by-study split</a:t>
            </a:r>
            <a:endParaRPr lang="en-US" sz="1400" dirty="0"/>
          </a:p>
        </p:txBody>
      </p:sp>
      <p:sp>
        <p:nvSpPr>
          <p:cNvPr id="4" name="Shape 2"/>
          <p:cNvSpPr/>
          <p:nvPr/>
        </p:nvSpPr>
        <p:spPr>
          <a:xfrm>
            <a:off x="548640" y="1554480"/>
            <a:ext cx="2651760" cy="2331720"/>
          </a:xfrm>
          <a:prstGeom prst="roundRect">
            <a:avLst>
              <a:gd name="adj" fmla="val 4706"/>
            </a:avLst>
          </a:prstGeom>
          <a:solidFill>
            <a:srgbClr val="1B2A4A"/>
          </a:solidFill>
          <a:ln w="12700">
            <a:solidFill>
              <a:srgbClr val="1B2A4A"/>
            </a:solidFill>
            <a:prstDash val="solid"/>
          </a:ln>
        </p:spPr>
        <p:txBody>
          <a:bodyPr/>
          <a:lstStyle/>
          <a:p>
            <a:endParaRPr lang="en-US"/>
          </a:p>
        </p:txBody>
      </p:sp>
      <p:sp>
        <p:nvSpPr>
          <p:cNvPr id="5" name="Text 3"/>
          <p:cNvSpPr txBox="1"/>
          <p:nvPr/>
        </p:nvSpPr>
        <p:spPr>
          <a:xfrm>
            <a:off x="731520" y="1691640"/>
            <a:ext cx="2286000" cy="41148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Ridge regression</a:t>
            </a:r>
            <a:endParaRPr lang="en-US" sz="1700" dirty="0"/>
          </a:p>
        </p:txBody>
      </p:sp>
      <p:sp>
        <p:nvSpPr>
          <p:cNvPr id="6" name="Text 4"/>
          <p:cNvSpPr txBox="1"/>
          <p:nvPr/>
        </p:nvSpPr>
        <p:spPr>
          <a:xfrm>
            <a:off x="731520" y="2103120"/>
            <a:ext cx="2286000" cy="292608"/>
          </a:xfrm>
          <a:prstGeom prst="rect">
            <a:avLst/>
          </a:prstGeom>
          <a:noFill/>
          <a:ln/>
        </p:spPr>
        <p:txBody>
          <a:bodyPr wrap="square" lIns="0" tIns="0" rIns="0" bIns="0" rtlCol="0" anchor="ctr"/>
          <a:lstStyle/>
          <a:p>
            <a:pPr marL="0" indent="0">
              <a:buNone/>
            </a:pPr>
            <a:r>
              <a:rPr lang="en-US" sz="1200" i="1" dirty="0">
                <a:solidFill>
                  <a:srgbClr val="9BB7CF"/>
                </a:solidFill>
                <a:latin typeface="Calibri" pitchFamily="34" charset="0"/>
                <a:ea typeface="Calibri" pitchFamily="34" charset="-122"/>
                <a:cs typeface="Calibri" pitchFamily="34" charset="-120"/>
              </a:rPr>
              <a:t>Simple baseline</a:t>
            </a:r>
            <a:endParaRPr lang="en-US" sz="1200" dirty="0"/>
          </a:p>
        </p:txBody>
      </p:sp>
      <p:sp>
        <p:nvSpPr>
          <p:cNvPr id="7" name="Text 5"/>
          <p:cNvSpPr txBox="1"/>
          <p:nvPr/>
        </p:nvSpPr>
        <p:spPr>
          <a:xfrm>
            <a:off x="731520" y="2468880"/>
            <a:ext cx="2286000" cy="13258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Linear, no interactions, cannot bend.</a:t>
            </a:r>
            <a:endParaRPr lang="en-US" sz="1200" dirty="0"/>
          </a:p>
          <a:p>
            <a:pPr marL="0" indent="0">
              <a:buNone/>
            </a:pPr>
            <a:r>
              <a:rPr lang="en-US" sz="1200" dirty="0">
                <a:solidFill>
                  <a:srgbClr val="FFFFFF"/>
                </a:solidFill>
                <a:latin typeface="Calibri" pitchFamily="34" charset="0"/>
                <a:ea typeface="Calibri" pitchFamily="34" charset="-122"/>
                <a:cs typeface="Calibri" pitchFamily="34" charset="-120"/>
              </a:rPr>
              <a:t>α = 1.0. Deterministic (no seed needed).</a:t>
            </a:r>
            <a:endParaRPr lang="en-US" sz="1200" dirty="0"/>
          </a:p>
        </p:txBody>
      </p:sp>
      <p:sp>
        <p:nvSpPr>
          <p:cNvPr id="8" name="Shape 6"/>
          <p:cNvSpPr/>
          <p:nvPr/>
        </p:nvSpPr>
        <p:spPr>
          <a:xfrm>
            <a:off x="3383280" y="1554480"/>
            <a:ext cx="2651760" cy="2331720"/>
          </a:xfrm>
          <a:prstGeom prst="roundRect">
            <a:avLst>
              <a:gd name="adj" fmla="val 4706"/>
            </a:avLst>
          </a:prstGeom>
          <a:solidFill>
            <a:srgbClr val="EEF2F6"/>
          </a:solidFill>
          <a:ln w="12700">
            <a:solidFill>
              <a:srgbClr val="EEF2F6"/>
            </a:solidFill>
            <a:prstDash val="solid"/>
          </a:ln>
        </p:spPr>
        <p:txBody>
          <a:bodyPr/>
          <a:lstStyle/>
          <a:p>
            <a:endParaRPr lang="en-US"/>
          </a:p>
        </p:txBody>
      </p:sp>
      <p:sp>
        <p:nvSpPr>
          <p:cNvPr id="9" name="Text 7"/>
          <p:cNvSpPr txBox="1"/>
          <p:nvPr/>
        </p:nvSpPr>
        <p:spPr>
          <a:xfrm>
            <a:off x="3566160" y="1691640"/>
            <a:ext cx="2286000" cy="411480"/>
          </a:xfrm>
          <a:prstGeom prst="rect">
            <a:avLst/>
          </a:prstGeom>
          <a:noFill/>
          <a:ln/>
        </p:spPr>
        <p:txBody>
          <a:bodyPr wrap="square" lIns="0" tIns="0" rIns="0" bIns="0" rtlCol="0" anchor="ctr"/>
          <a:lstStyle/>
          <a:p>
            <a:pPr marL="0" indent="0">
              <a:buNone/>
            </a:pPr>
            <a:r>
              <a:rPr lang="en-US" sz="1700" b="1" dirty="0">
                <a:solidFill>
                  <a:srgbClr val="1B2A4A"/>
                </a:solidFill>
                <a:latin typeface="Cambria" pitchFamily="34" charset="0"/>
                <a:ea typeface="Cambria" pitchFamily="34" charset="-122"/>
                <a:cs typeface="Cambria" pitchFamily="34" charset="-120"/>
              </a:rPr>
              <a:t>Random forest</a:t>
            </a:r>
            <a:endParaRPr lang="en-US" sz="1700" dirty="0"/>
          </a:p>
        </p:txBody>
      </p:sp>
      <p:sp>
        <p:nvSpPr>
          <p:cNvPr id="10" name="Text 8"/>
          <p:cNvSpPr txBox="1"/>
          <p:nvPr/>
        </p:nvSpPr>
        <p:spPr>
          <a:xfrm>
            <a:off x="3566160" y="2103120"/>
            <a:ext cx="2286000" cy="292608"/>
          </a:xfrm>
          <a:prstGeom prst="rect">
            <a:avLst/>
          </a:prstGeom>
          <a:noFill/>
          <a:ln/>
        </p:spPr>
        <p:txBody>
          <a:bodyPr wrap="square" lIns="0" tIns="0" rIns="0" bIns="0" rtlCol="0" anchor="ctr"/>
          <a:lstStyle/>
          <a:p>
            <a:pPr marL="0" indent="0">
              <a:buNone/>
            </a:pPr>
            <a:r>
              <a:rPr lang="en-US" sz="1200" i="1" dirty="0">
                <a:solidFill>
                  <a:srgbClr val="3B6E8F"/>
                </a:solidFill>
                <a:latin typeface="Calibri" pitchFamily="34" charset="0"/>
                <a:ea typeface="Calibri" pitchFamily="34" charset="-122"/>
                <a:cs typeface="Calibri" pitchFamily="34" charset="-120"/>
              </a:rPr>
              <a:t>Tree ensemble</a:t>
            </a:r>
            <a:endParaRPr lang="en-US" sz="1200" dirty="0"/>
          </a:p>
        </p:txBody>
      </p:sp>
      <p:sp>
        <p:nvSpPr>
          <p:cNvPr id="11" name="Text 9"/>
          <p:cNvSpPr txBox="1"/>
          <p:nvPr/>
        </p:nvSpPr>
        <p:spPr>
          <a:xfrm>
            <a:off x="3566160" y="2468880"/>
            <a:ext cx="2286000" cy="13258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500 trees, min 2 samples per leaf, averaged.</a:t>
            </a:r>
            <a:endParaRPr lang="en-US" sz="1200" dirty="0"/>
          </a:p>
          <a:p>
            <a:pPr marL="0" indent="0">
              <a:buNone/>
            </a:pPr>
            <a:r>
              <a:rPr lang="en-US" sz="1200" dirty="0">
                <a:solidFill>
                  <a:srgbClr val="222222"/>
                </a:solidFill>
                <a:latin typeface="Calibri" pitchFamily="34" charset="0"/>
                <a:ea typeface="Calibri" pitchFamily="34" charset="-122"/>
                <a:cs typeface="Calibri" pitchFamily="34" charset="-120"/>
              </a:rPr>
              <a:t>random_state = 42.</a:t>
            </a:r>
            <a:endParaRPr lang="en-US" sz="1200" dirty="0"/>
          </a:p>
        </p:txBody>
      </p:sp>
      <p:sp>
        <p:nvSpPr>
          <p:cNvPr id="12" name="Shape 10"/>
          <p:cNvSpPr/>
          <p:nvPr/>
        </p:nvSpPr>
        <p:spPr>
          <a:xfrm>
            <a:off x="6217920" y="1554480"/>
            <a:ext cx="2651760" cy="2331720"/>
          </a:xfrm>
          <a:prstGeom prst="roundRect">
            <a:avLst>
              <a:gd name="adj" fmla="val 4706"/>
            </a:avLst>
          </a:prstGeom>
          <a:solidFill>
            <a:srgbClr val="EEF2F6"/>
          </a:solidFill>
          <a:ln w="12700">
            <a:solidFill>
              <a:srgbClr val="EEF2F6"/>
            </a:solidFill>
            <a:prstDash val="solid"/>
          </a:ln>
        </p:spPr>
        <p:txBody>
          <a:bodyPr/>
          <a:lstStyle/>
          <a:p>
            <a:endParaRPr lang="en-US"/>
          </a:p>
        </p:txBody>
      </p:sp>
      <p:sp>
        <p:nvSpPr>
          <p:cNvPr id="13" name="Text 11"/>
          <p:cNvSpPr txBox="1"/>
          <p:nvPr/>
        </p:nvSpPr>
        <p:spPr>
          <a:xfrm>
            <a:off x="6400800" y="1691640"/>
            <a:ext cx="2286000" cy="411480"/>
          </a:xfrm>
          <a:prstGeom prst="rect">
            <a:avLst/>
          </a:prstGeom>
          <a:noFill/>
          <a:ln/>
        </p:spPr>
        <p:txBody>
          <a:bodyPr wrap="square" lIns="0" tIns="0" rIns="0" bIns="0" rtlCol="0" anchor="ctr"/>
          <a:lstStyle/>
          <a:p>
            <a:pPr marL="0" indent="0">
              <a:buNone/>
            </a:pPr>
            <a:r>
              <a:rPr lang="en-US" sz="1700" b="1" dirty="0">
                <a:solidFill>
                  <a:srgbClr val="1B2A4A"/>
                </a:solidFill>
                <a:latin typeface="Cambria" pitchFamily="34" charset="0"/>
                <a:ea typeface="Cambria" pitchFamily="34" charset="-122"/>
                <a:cs typeface="Cambria" pitchFamily="34" charset="-120"/>
              </a:rPr>
              <a:t>XGBoost</a:t>
            </a:r>
            <a:endParaRPr lang="en-US" sz="1700" dirty="0"/>
          </a:p>
        </p:txBody>
      </p:sp>
      <p:sp>
        <p:nvSpPr>
          <p:cNvPr id="14" name="Text 12"/>
          <p:cNvSpPr txBox="1"/>
          <p:nvPr/>
        </p:nvSpPr>
        <p:spPr>
          <a:xfrm>
            <a:off x="6400800" y="2103120"/>
            <a:ext cx="2286000" cy="292608"/>
          </a:xfrm>
          <a:prstGeom prst="rect">
            <a:avLst/>
          </a:prstGeom>
          <a:noFill/>
          <a:ln/>
        </p:spPr>
        <p:txBody>
          <a:bodyPr wrap="square" lIns="0" tIns="0" rIns="0" bIns="0" rtlCol="0" anchor="ctr"/>
          <a:lstStyle/>
          <a:p>
            <a:pPr marL="0" indent="0">
              <a:buNone/>
            </a:pPr>
            <a:r>
              <a:rPr lang="en-US" sz="1200" i="1" dirty="0">
                <a:solidFill>
                  <a:srgbClr val="3B6E8F"/>
                </a:solidFill>
                <a:latin typeface="Calibri" pitchFamily="34" charset="0"/>
                <a:ea typeface="Calibri" pitchFamily="34" charset="-122"/>
                <a:cs typeface="Calibri" pitchFamily="34" charset="-120"/>
              </a:rPr>
              <a:t>Boosted trees</a:t>
            </a:r>
            <a:endParaRPr lang="en-US" sz="1200" dirty="0"/>
          </a:p>
        </p:txBody>
      </p:sp>
      <p:sp>
        <p:nvSpPr>
          <p:cNvPr id="15" name="Text 13"/>
          <p:cNvSpPr txBox="1"/>
          <p:nvPr/>
        </p:nvSpPr>
        <p:spPr>
          <a:xfrm>
            <a:off x="6400800" y="2468880"/>
            <a:ext cx="2286000" cy="13258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800 trees, depth 4, learning rate 0.04, subsample 0.9.</a:t>
            </a:r>
            <a:endParaRPr lang="en-US" sz="1200" dirty="0"/>
          </a:p>
          <a:p>
            <a:pPr marL="0" indent="0">
              <a:buNone/>
            </a:pPr>
            <a:r>
              <a:rPr lang="en-US" sz="1200" dirty="0">
                <a:solidFill>
                  <a:srgbClr val="222222"/>
                </a:solidFill>
                <a:latin typeface="Calibri" pitchFamily="34" charset="0"/>
                <a:ea typeface="Calibri" pitchFamily="34" charset="-122"/>
                <a:cs typeface="Calibri" pitchFamily="34" charset="-120"/>
              </a:rPr>
              <a:t>random_state = 42.</a:t>
            </a:r>
            <a:endParaRPr lang="en-US" sz="1200" dirty="0"/>
          </a:p>
        </p:txBody>
      </p:sp>
      <p:sp>
        <p:nvSpPr>
          <p:cNvPr id="16" name="Shape 14"/>
          <p:cNvSpPr/>
          <p:nvPr/>
        </p:nvSpPr>
        <p:spPr>
          <a:xfrm>
            <a:off x="9052560" y="1554480"/>
            <a:ext cx="2651760" cy="2331720"/>
          </a:xfrm>
          <a:prstGeom prst="roundRect">
            <a:avLst>
              <a:gd name="adj" fmla="val 4706"/>
            </a:avLst>
          </a:prstGeom>
          <a:solidFill>
            <a:srgbClr val="EEF2F6"/>
          </a:solidFill>
          <a:ln w="12700">
            <a:solidFill>
              <a:srgbClr val="EEF2F6"/>
            </a:solidFill>
            <a:prstDash val="solid"/>
          </a:ln>
        </p:spPr>
        <p:txBody>
          <a:bodyPr/>
          <a:lstStyle/>
          <a:p>
            <a:endParaRPr lang="en-US"/>
          </a:p>
        </p:txBody>
      </p:sp>
      <p:sp>
        <p:nvSpPr>
          <p:cNvPr id="17" name="Text 15"/>
          <p:cNvSpPr txBox="1"/>
          <p:nvPr/>
        </p:nvSpPr>
        <p:spPr>
          <a:xfrm>
            <a:off x="9235440" y="1691640"/>
            <a:ext cx="2286000" cy="411480"/>
          </a:xfrm>
          <a:prstGeom prst="rect">
            <a:avLst/>
          </a:prstGeom>
          <a:noFill/>
          <a:ln/>
        </p:spPr>
        <p:txBody>
          <a:bodyPr wrap="square" lIns="0" tIns="0" rIns="0" bIns="0" rtlCol="0" anchor="ctr"/>
          <a:lstStyle/>
          <a:p>
            <a:pPr marL="0" indent="0">
              <a:buNone/>
            </a:pPr>
            <a:r>
              <a:rPr lang="en-US" sz="1700" b="1" dirty="0">
                <a:solidFill>
                  <a:srgbClr val="1B2A4A"/>
                </a:solidFill>
                <a:latin typeface="Cambria" pitchFamily="34" charset="0"/>
                <a:ea typeface="Cambria" pitchFamily="34" charset="-122"/>
                <a:cs typeface="Cambria" pitchFamily="34" charset="-120"/>
              </a:rPr>
              <a:t>MLP</a:t>
            </a:r>
            <a:endParaRPr lang="en-US" sz="1700" dirty="0"/>
          </a:p>
        </p:txBody>
      </p:sp>
      <p:sp>
        <p:nvSpPr>
          <p:cNvPr id="18" name="Text 16"/>
          <p:cNvSpPr txBox="1"/>
          <p:nvPr/>
        </p:nvSpPr>
        <p:spPr>
          <a:xfrm>
            <a:off x="9235440" y="2103120"/>
            <a:ext cx="2286000" cy="292608"/>
          </a:xfrm>
          <a:prstGeom prst="rect">
            <a:avLst/>
          </a:prstGeom>
          <a:noFill/>
          <a:ln/>
        </p:spPr>
        <p:txBody>
          <a:bodyPr wrap="square" lIns="0" tIns="0" rIns="0" bIns="0" rtlCol="0" anchor="ctr"/>
          <a:lstStyle/>
          <a:p>
            <a:pPr marL="0" indent="0">
              <a:buNone/>
            </a:pPr>
            <a:r>
              <a:rPr lang="en-US" sz="1200" i="1" dirty="0">
                <a:solidFill>
                  <a:srgbClr val="3B6E8F"/>
                </a:solidFill>
                <a:latin typeface="Calibri" pitchFamily="34" charset="0"/>
                <a:ea typeface="Calibri" pitchFamily="34" charset="-122"/>
                <a:cs typeface="Calibri" pitchFamily="34" charset="-120"/>
              </a:rPr>
              <a:t>Neural network</a:t>
            </a:r>
            <a:endParaRPr lang="en-US" sz="1200" dirty="0"/>
          </a:p>
        </p:txBody>
      </p:sp>
      <p:sp>
        <p:nvSpPr>
          <p:cNvPr id="19" name="Text 17"/>
          <p:cNvSpPr txBox="1"/>
          <p:nvPr/>
        </p:nvSpPr>
        <p:spPr>
          <a:xfrm>
            <a:off x="9235440" y="2468880"/>
            <a:ext cx="2286000" cy="13258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Two hidden layers (64, 32), ≤ 4,000 iterations, scikit-learn defaults, no early stopping.</a:t>
            </a:r>
            <a:endParaRPr lang="en-US" sz="1200" dirty="0"/>
          </a:p>
          <a:p>
            <a:pPr marL="0" indent="0">
              <a:buNone/>
            </a:pPr>
            <a:r>
              <a:rPr lang="en-US" sz="1200" dirty="0">
                <a:solidFill>
                  <a:srgbClr val="222222"/>
                </a:solidFill>
                <a:latin typeface="Calibri" pitchFamily="34" charset="0"/>
                <a:ea typeface="Calibri" pitchFamily="34" charset="-122"/>
                <a:cs typeface="Calibri" pitchFamily="34" charset="-120"/>
              </a:rPr>
              <a:t>random_state = 42.</a:t>
            </a:r>
            <a:endParaRPr lang="en-US" sz="1200" dirty="0"/>
          </a:p>
        </p:txBody>
      </p:sp>
      <p:sp>
        <p:nvSpPr>
          <p:cNvPr id="20" name="Shape 18"/>
          <p:cNvSpPr/>
          <p:nvPr/>
        </p:nvSpPr>
        <p:spPr>
          <a:xfrm>
            <a:off x="548640" y="4160520"/>
            <a:ext cx="5486400" cy="2057400"/>
          </a:xfrm>
          <a:prstGeom prst="roundRect">
            <a:avLst>
              <a:gd name="adj" fmla="val 4444"/>
            </a:avLst>
          </a:prstGeom>
          <a:solidFill>
            <a:srgbClr val="EEF2F6"/>
          </a:solidFill>
          <a:ln w="12700">
            <a:solidFill>
              <a:srgbClr val="EEF2F6"/>
            </a:solidFill>
            <a:prstDash val="solid"/>
          </a:ln>
        </p:spPr>
        <p:txBody>
          <a:bodyPr/>
          <a:lstStyle/>
          <a:p>
            <a:endParaRPr lang="en-US"/>
          </a:p>
        </p:txBody>
      </p:sp>
      <p:sp>
        <p:nvSpPr>
          <p:cNvPr id="21" name="Text 19"/>
          <p:cNvSpPr txBox="1"/>
          <p:nvPr/>
        </p:nvSpPr>
        <p:spPr>
          <a:xfrm>
            <a:off x="731520" y="4251960"/>
            <a:ext cx="5120640" cy="1920240"/>
          </a:xfrm>
          <a:prstGeom prst="rect">
            <a:avLst/>
          </a:prstGeom>
          <a:noFill/>
          <a:ln/>
        </p:spPr>
        <p:txBody>
          <a:bodyPr wrap="square" lIns="0" tIns="0" rIns="0" bIns="0" rtlCol="0" anchor="t"/>
          <a:lstStyle/>
          <a:p>
            <a:pPr marL="0" indent="0">
              <a:buNone/>
            </a:pPr>
            <a:r>
              <a:rPr lang="en-US" sz="1400" b="1" dirty="0">
                <a:solidFill>
                  <a:srgbClr val="1B2A4A"/>
                </a:solidFill>
                <a:latin typeface="Calibri" pitchFamily="34" charset="0"/>
                <a:ea typeface="Calibri" pitchFamily="34" charset="-122"/>
                <a:cs typeface="Calibri" pitchFamily="34" charset="-120"/>
              </a:rPr>
              <a:t>Identical for all four models</a:t>
            </a:r>
            <a:endParaRPr lang="en-US" sz="1400" dirty="0"/>
          </a:p>
          <a:p>
            <a:pPr marL="0" indent="0">
              <a:buNone/>
            </a:pPr>
            <a:r>
              <a:rPr lang="en-US" sz="1150" dirty="0">
                <a:solidFill>
                  <a:srgbClr val="222222"/>
                </a:solidFill>
                <a:latin typeface="Calibri" pitchFamily="34" charset="0"/>
                <a:ea typeface="Calibri" pitchFamily="34" charset="-122"/>
                <a:cs typeface="Calibri" pitchFamily="34" charset="-120"/>
              </a:rPr>
              <a:t>One scikit-learn Pipeline object: median imputation of numeric features → standardisation → one-hot encoding of specimen type → model. The imputer and scaler are fitted on the training fold only, inside every fold, so no test information leaks into preprocessing.</a:t>
            </a:r>
            <a:endParaRPr lang="en-US" sz="14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150" dirty="0">
                <a:solidFill>
                  <a:srgbClr val="222222"/>
                </a:solidFill>
                <a:latin typeface="Calibri" pitchFamily="34" charset="0"/>
                <a:ea typeface="Calibri" pitchFamily="34" charset="-122"/>
                <a:cs typeface="Calibri" pitchFamily="34" charset="-120"/>
              </a:rPr>
              <a:t>Same folds, same seed: fold assignment uses seed 42 (random split) or the study grouping (by-study split); every model is trained and scored on exactly the same five folds. Models with randomness receive random_state = 42; ridge has none.</a:t>
            </a:r>
            <a:endParaRPr lang="en-US" sz="1400" dirty="0"/>
          </a:p>
        </p:txBody>
      </p:sp>
      <p:sp>
        <p:nvSpPr>
          <p:cNvPr id="22" name="Shape 20"/>
          <p:cNvSpPr/>
          <p:nvPr/>
        </p:nvSpPr>
        <p:spPr>
          <a:xfrm>
            <a:off x="6309360" y="4160520"/>
            <a:ext cx="5303520" cy="2057400"/>
          </a:xfrm>
          <a:prstGeom prst="roundRect">
            <a:avLst>
              <a:gd name="adj" fmla="val 4444"/>
            </a:avLst>
          </a:prstGeom>
          <a:solidFill>
            <a:srgbClr val="EEF2F6"/>
          </a:solidFill>
          <a:ln w="12700">
            <a:solidFill>
              <a:srgbClr val="EEF2F6"/>
            </a:solidFill>
            <a:prstDash val="solid"/>
          </a:ln>
        </p:spPr>
        <p:txBody>
          <a:bodyPr/>
          <a:lstStyle/>
          <a:p>
            <a:endParaRPr lang="en-US"/>
          </a:p>
        </p:txBody>
      </p:sp>
      <p:sp>
        <p:nvSpPr>
          <p:cNvPr id="23" name="Text 21"/>
          <p:cNvSpPr txBox="1"/>
          <p:nvPr/>
        </p:nvSpPr>
        <p:spPr>
          <a:xfrm>
            <a:off x="6492240" y="4251960"/>
            <a:ext cx="4937760" cy="1920240"/>
          </a:xfrm>
          <a:prstGeom prst="rect">
            <a:avLst/>
          </a:prstGeom>
          <a:noFill/>
          <a:ln/>
        </p:spPr>
        <p:txBody>
          <a:bodyPr wrap="square" lIns="0" tIns="0" rIns="0" bIns="0" rtlCol="0" anchor="t"/>
          <a:lstStyle/>
          <a:p>
            <a:pPr marL="0" indent="0">
              <a:buNone/>
            </a:pPr>
            <a:r>
              <a:rPr lang="en-US" sz="1400" b="1" dirty="0">
                <a:solidFill>
                  <a:srgbClr val="1B2A4A"/>
                </a:solidFill>
                <a:latin typeface="Calibri" pitchFamily="34" charset="0"/>
                <a:ea typeface="Calibri" pitchFamily="34" charset="-122"/>
                <a:cs typeface="Calibri" pitchFamily="34" charset="-120"/>
              </a:rPr>
              <a:t>What is reported for each model</a:t>
            </a:r>
            <a:endParaRPr lang="en-US" sz="1400" dirty="0"/>
          </a:p>
          <a:p>
            <a:pPr marL="0" indent="0">
              <a:buNone/>
            </a:pPr>
            <a:r>
              <a:rPr lang="en-US" sz="1150" dirty="0">
                <a:solidFill>
                  <a:srgbClr val="222222"/>
                </a:solidFill>
                <a:latin typeface="Calibri" pitchFamily="34" charset="0"/>
                <a:ea typeface="Calibri" pitchFamily="34" charset="-122"/>
                <a:cs typeface="Calibri" pitchFamily="34" charset="-120"/>
              </a:rPr>
              <a:t>Task metric: R² and MAE (MPa) on out-of-fold predictions, 5 folds, under both splits.</a:t>
            </a:r>
            <a:endParaRPr lang="en-US" sz="1400" dirty="0"/>
          </a:p>
          <a:p>
            <a:pPr marL="0" indent="0">
              <a:buNone/>
            </a:pPr>
            <a:r>
              <a:rPr lang="en-US" sz="1150" dirty="0">
                <a:solidFill>
                  <a:srgbClr val="222222"/>
                </a:solidFill>
                <a:latin typeface="Calibri" pitchFamily="34" charset="0"/>
                <a:ea typeface="Calibri" pitchFamily="34" charset="-122"/>
                <a:cs typeface="Calibri" pitchFamily="34" charset="-120"/>
              </a:rPr>
              <a:t>Training time: seconds to fit all five folds; forest and XGBoost on two cores, ridge and MLP on one.</a:t>
            </a:r>
            <a:endParaRPr lang="en-US" sz="1400" dirty="0"/>
          </a:p>
          <a:p>
            <a:pPr marL="0" indent="0">
              <a:buNone/>
            </a:pPr>
            <a:r>
              <a:rPr lang="en-US" sz="1150" dirty="0">
                <a:solidFill>
                  <a:srgbClr val="222222"/>
                </a:solidFill>
                <a:latin typeface="Calibri" pitchFamily="34" charset="0"/>
                <a:ea typeface="Calibri" pitchFamily="34" charset="-122"/>
                <a:cs typeface="Calibri" pitchFamily="34" charset="-120"/>
              </a:rPr>
              <a:t>Model size of the final fold's model: ridge = coefficients; forest and XGBoost = tree nodes; MLP = weights and biases.</a:t>
            </a:r>
            <a:endParaRPr lang="en-US" sz="1400" dirty="0"/>
          </a:p>
          <a:p>
            <a:pPr marL="0" indent="0">
              <a:buNone/>
            </a:pPr>
            <a:r>
              <a:rPr lang="en-US" sz="1150" dirty="0">
                <a:solidFill>
                  <a:srgbClr val="222222"/>
                </a:solidFill>
                <a:latin typeface="Calibri" pitchFamily="34" charset="0"/>
                <a:ea typeface="Calibri" pitchFamily="34" charset="-122"/>
                <a:cs typeface="Calibri" pitchFamily="34" charset="-120"/>
              </a:rPr>
              <a:t>All of it in results/comparison.csv, produced by one command.</a:t>
            </a:r>
            <a:endParaRPr lang="en-US" sz="1400" dirty="0"/>
          </a:p>
        </p:txBody>
      </p:sp>
      <p:sp>
        <p:nvSpPr>
          <p:cNvPr id="24" name="Text 22"/>
          <p:cNvSpPr txBox="1"/>
          <p:nvPr/>
        </p:nvSpPr>
        <p:spPr>
          <a:xfrm>
            <a:off x="548640" y="6400800"/>
            <a:ext cx="11064240" cy="274320"/>
          </a:xfrm>
          <a:prstGeom prst="rect">
            <a:avLst/>
          </a:prstGeom>
          <a:noFill/>
          <a:ln/>
        </p:spPr>
        <p:txBody>
          <a:bodyPr wrap="square" lIns="0" tIns="0" rIns="0" bIns="0" rtlCol="0" anchor="ctr"/>
          <a:lstStyle/>
          <a:p>
            <a:pPr marL="0" indent="0">
              <a:buNone/>
            </a:pPr>
            <a:r>
              <a:rPr lang="en-US" sz="900" dirty="0">
                <a:solidFill>
                  <a:srgbClr val="666666"/>
                </a:solidFill>
                <a:latin typeface="Calibri" pitchFamily="34" charset="0"/>
                <a:ea typeface="Calibri" pitchFamily="34" charset="-122"/>
                <a:cs typeface="Calibri" pitchFamily="34" charset="-120"/>
              </a:rPr>
              <a:t>CSBP 711 · Assignment 1 · Hakem Alkhraisha · 3/5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Results: who wins depends on the split</a:t>
            </a:r>
            <a:endParaRPr lang="en-US" sz="3000" dirty="0"/>
          </a:p>
        </p:txBody>
      </p:sp>
      <p:sp>
        <p:nvSpPr>
          <p:cNvPr id="3" name="Text 1"/>
          <p:cNvSpPr txBox="1"/>
          <p:nvPr/>
        </p:nvSpPr>
        <p:spPr>
          <a:xfrm>
            <a:off x="548640" y="1005840"/>
            <a:ext cx="11064240" cy="365760"/>
          </a:xfrm>
          <a:prstGeom prst="rect">
            <a:avLst/>
          </a:prstGeom>
          <a:noFill/>
          <a:ln/>
        </p:spPr>
        <p:txBody>
          <a:bodyPr wrap="square" lIns="0" tIns="0" rIns="0" bIns="0" rtlCol="0" anchor="ctr"/>
          <a:lstStyle/>
          <a:p>
            <a:pPr marL="0" indent="0">
              <a:buNone/>
            </a:pPr>
            <a:r>
              <a:rPr lang="en-US" sz="1400" dirty="0">
                <a:solidFill>
                  <a:srgbClr val="666666"/>
                </a:solidFill>
                <a:latin typeface="Calibri" pitchFamily="34" charset="0"/>
                <a:ea typeface="Calibri" pitchFamily="34" charset="-122"/>
                <a:cs typeface="Calibri" pitchFamily="34" charset="-120"/>
              </a:rPr>
              <a:t>Same models, same preprocessing, same seed — only the split changes</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858000" cy="2103120"/>
        </p:xfrm>
        <a:graphic>
          <a:graphicData uri="http://schemas.openxmlformats.org/drawingml/2006/table">
            <a:tbl>
              <a:tblPr/>
              <a:tblGrid>
                <a:gridCol w="14173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R² random</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R² by study</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MAE random (MPa)</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MAE by study (MPa)</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Fit time (s)*</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Model size*</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222222"/>
                          </a:solidFill>
                          <a:latin typeface="Calibri" pitchFamily="34" charset="0"/>
                          <a:ea typeface="Calibri" pitchFamily="34" charset="-122"/>
                          <a:cs typeface="Calibri" pitchFamily="34" charset="-120"/>
                        </a:rPr>
                        <a:t>Ridge (baseline)</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0.47</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20 coeff.</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222222"/>
                          </a:solidFill>
                          <a:latin typeface="Calibri" pitchFamily="34" charset="0"/>
                          <a:ea typeface="Calibri" pitchFamily="34" charset="-122"/>
                          <a:cs typeface="Calibri" pitchFamily="34" charset="-120"/>
                        </a:rPr>
                        <a:t>Random forest</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231k nodes</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222222"/>
                          </a:solidFill>
                          <a:latin typeface="Calibri" pitchFamily="34" charset="0"/>
                          <a:ea typeface="Calibri" pitchFamily="34" charset="-122"/>
                          <a:cs typeface="Calibri" pitchFamily="34" charset="-120"/>
                        </a:rPr>
                        <a:t>MLP (64, 32)</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−0.86</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21.4</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3.4k weights</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222222"/>
                          </a:solidFill>
                          <a:latin typeface="Calibri" pitchFamily="34" charset="0"/>
                          <a:ea typeface="Calibri" pitchFamily="34" charset="-122"/>
                          <a:cs typeface="Calibri" pitchFamily="34" charset="-120"/>
                        </a:rPr>
                        <a:t>XGBoost</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222222"/>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222222"/>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222222"/>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222222"/>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222"/>
                          </a:solidFill>
                          <a:latin typeface="Calibri" pitchFamily="34" charset="0"/>
                          <a:ea typeface="Calibri" pitchFamily="34" charset="-122"/>
                          <a:cs typeface="Calibri" pitchFamily="34" charset="-120"/>
                        </a:rPr>
                        <a:t>≈22k nodes</a:t>
                      </a:r>
                      <a:endParaRPr lang="en-US" sz="120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Text 2"/>
          <p:cNvSpPr txBox="1"/>
          <p:nvPr/>
        </p:nvSpPr>
        <p:spPr>
          <a:xfrm>
            <a:off x="548640" y="3611880"/>
            <a:ext cx="6858000" cy="548640"/>
          </a:xfrm>
          <a:prstGeom prst="rect">
            <a:avLst/>
          </a:prstGeom>
          <a:noFill/>
          <a:ln/>
        </p:spPr>
        <p:txBody>
          <a:bodyPr wrap="square" lIns="0" tIns="0" rIns="0" bIns="0" rtlCol="0" anchor="ctr"/>
          <a:lstStyle/>
          <a:p>
            <a:pPr marL="0" indent="0">
              <a:buNone/>
            </a:pPr>
            <a:r>
              <a:rPr lang="en-US" sz="950" dirty="0">
                <a:solidFill>
                  <a:srgbClr val="666666"/>
                </a:solidFill>
                <a:latin typeface="Calibri" pitchFamily="34" charset="0"/>
                <a:ea typeface="Calibri" pitchFamily="34" charset="-122"/>
                <a:cs typeface="Calibri" pitchFamily="34" charset="-120"/>
              </a:rPr>
              <a:t>* Time = seconds to fit all five folds on the random split, single run (forest and XGBoost on two cores, ridge and MLP on one; times vary by tens of percent between runs). Size = final fold's model: coefficients (ridge), tree nodes (forest, XGBoost), weights and biases (MLP). Seed 42; results/comparison.csv.</a:t>
            </a:r>
            <a:endParaRPr lang="en-US" sz="950" dirty="0"/>
          </a:p>
        </p:txBody>
      </p:sp>
      <p:pic>
        <p:nvPicPr>
          <p:cNvPr id="6" name="Image 0" descr="/home/claude/jiang/figures/F3_comparison.png"/>
          <p:cNvPicPr>
            <a:picLocks noChangeAspect="1"/>
          </p:cNvPicPr>
          <p:nvPr/>
        </p:nvPicPr>
        <p:blipFill>
          <a:blip r:embed="rId3"/>
          <a:stretch>
            <a:fillRect/>
          </a:stretch>
        </p:blipFill>
        <p:spPr>
          <a:xfrm>
            <a:off x="7680960" y="1554480"/>
            <a:ext cx="3931920" cy="2194560"/>
          </a:xfrm>
          <a:prstGeom prst="rect">
            <a:avLst/>
          </a:prstGeom>
        </p:spPr>
      </p:pic>
      <p:sp>
        <p:nvSpPr>
          <p:cNvPr id="7" name="Text 3"/>
          <p:cNvSpPr txBox="1"/>
          <p:nvPr/>
        </p:nvSpPr>
        <p:spPr>
          <a:xfrm>
            <a:off x="548640" y="4251960"/>
            <a:ext cx="685800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Random split: all three non-linear models beat the baseline by a wide margin; XGBoost is best, fastest of the three, and ten times smaller than the forest.</a:t>
            </a:r>
            <a:endParaRPr lang="en-US" sz="1250" dirty="0"/>
          </a:p>
          <a:p>
            <a:pPr marL="342900" indent="-342900">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By-study split: every model falls; the forest to the baseline's level on this fold draw, the MLP below predicting the mean. XGBoost keeps a lead, but at R² 0.16 nobody is predicting a new source well. Re-drawing the folds moves every by-study number by ±0.05–0.1; XGBoost &gt; forest and MLP last hold in every draw.</a:t>
            </a:r>
            <a:endParaRPr lang="en-US" sz="1250" dirty="0"/>
          </a:p>
          <a:p>
            <a:pPr marL="342900" indent="-342900">
              <a:spcAft>
                <a:spcPts val="600"/>
              </a:spcAft>
              <a:buSzPct val="100000"/>
              <a:buChar char="•"/>
            </a:pPr>
            <a:r>
              <a:rPr lang="en-US" sz="1250" dirty="0">
                <a:solidFill>
                  <a:srgbClr val="222222"/>
                </a:solidFill>
                <a:latin typeface="Calibri" pitchFamily="34" charset="0"/>
                <a:ea typeface="Calibri" pitchFamily="34" charset="-122"/>
                <a:cs typeface="Calibri" pitchFamily="34" charset="-120"/>
              </a:rPr>
              <a:t>The gap between the two columns is the result, not a nuisance: it is the size of the leakage.</a:t>
            </a:r>
            <a:endParaRPr lang="en-US" sz="1250" dirty="0"/>
          </a:p>
        </p:txBody>
      </p:sp>
      <p:pic>
        <p:nvPicPr>
          <p:cNvPr id="8" name="Image 1" descr="/home/claude/jiang/figures/F4_residuals_by_study.png"/>
          <p:cNvPicPr>
            <a:picLocks noChangeAspect="1"/>
          </p:cNvPicPr>
          <p:nvPr/>
        </p:nvPicPr>
        <p:blipFill>
          <a:blip r:embed="rId4"/>
          <a:stretch>
            <a:fillRect/>
          </a:stretch>
        </p:blipFill>
        <p:spPr>
          <a:xfrm>
            <a:off x="7680960" y="4160520"/>
            <a:ext cx="3931920" cy="1417320"/>
          </a:xfrm>
          <a:prstGeom prst="rect">
            <a:avLst/>
          </a:prstGeom>
        </p:spPr>
      </p:pic>
      <p:sp>
        <p:nvSpPr>
          <p:cNvPr id="9" name="Text 4"/>
          <p:cNvSpPr txBox="1"/>
          <p:nvPr/>
        </p:nvSpPr>
        <p:spPr>
          <a:xfrm>
            <a:off x="7680960" y="5623560"/>
            <a:ext cx="3931920" cy="640080"/>
          </a:xfrm>
          <a:prstGeom prst="rect">
            <a:avLst/>
          </a:prstGeom>
          <a:noFill/>
          <a:ln/>
        </p:spPr>
        <p:txBody>
          <a:bodyPr wrap="square" lIns="0" tIns="0" rIns="0" bIns="0" rtlCol="0" anchor="ctr"/>
          <a:lstStyle/>
          <a:p>
            <a:pPr marL="0" indent="0">
              <a:buNone/>
            </a:pPr>
            <a:r>
              <a:rPr lang="en-US" sz="950" dirty="0">
                <a:solidFill>
                  <a:srgbClr val="666666"/>
                </a:solidFill>
                <a:latin typeface="Calibri" pitchFamily="34" charset="0"/>
                <a:ea typeface="Calibri" pitchFamily="34" charset="-122"/>
                <a:cs typeface="Calibri" pitchFamily="34" charset="-120"/>
              </a:rPr>
              <a:t>Forest residuals per study (≥5 mixes), sorted. Random split: scatter around zero. By-study split: whole laboratories sit above or below — the error is the laboratory, not the mix.</a:t>
            </a:r>
            <a:endParaRPr lang="en-US" sz="950" dirty="0"/>
          </a:p>
        </p:txBody>
      </p:sp>
      <p:sp>
        <p:nvSpPr>
          <p:cNvPr id="10" name="Text 5"/>
          <p:cNvSpPr txBox="1"/>
          <p:nvPr/>
        </p:nvSpPr>
        <p:spPr>
          <a:xfrm>
            <a:off x="548640" y="6400800"/>
            <a:ext cx="11064240" cy="274320"/>
          </a:xfrm>
          <a:prstGeom prst="rect">
            <a:avLst/>
          </a:prstGeom>
          <a:noFill/>
          <a:ln/>
        </p:spPr>
        <p:txBody>
          <a:bodyPr wrap="square" lIns="0" tIns="0" rIns="0" bIns="0" rtlCol="0" anchor="ctr"/>
          <a:lstStyle/>
          <a:p>
            <a:pPr marL="0" indent="0">
              <a:buNone/>
            </a:pPr>
            <a:r>
              <a:rPr lang="en-US" sz="900" dirty="0">
                <a:solidFill>
                  <a:srgbClr val="666666"/>
                </a:solidFill>
                <a:latin typeface="Calibri" pitchFamily="34" charset="0"/>
                <a:ea typeface="Calibri" pitchFamily="34" charset="-122"/>
                <a:cs typeface="Calibri" pitchFamily="34" charset="-120"/>
              </a:rPr>
              <a:t>CSBP 711 · Assignment 1 · Hakem Alkhraisha · 4/5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Why the trees beat the baseline, and what is still open</a:t>
            </a:r>
            <a:endParaRPr lang="en-US" sz="3000" dirty="0"/>
          </a:p>
        </p:txBody>
      </p:sp>
      <p:sp>
        <p:nvSpPr>
          <p:cNvPr id="3" name="Text 1"/>
          <p:cNvSpPr txBox="1"/>
          <p:nvPr/>
        </p:nvSpPr>
        <p:spPr>
          <a:xfrm>
            <a:off x="548640" y="1005840"/>
            <a:ext cx="11064240" cy="365760"/>
          </a:xfrm>
          <a:prstGeom prst="rect">
            <a:avLst/>
          </a:prstGeom>
          <a:noFill/>
          <a:ln/>
        </p:spPr>
        <p:txBody>
          <a:bodyPr wrap="square" lIns="0" tIns="0" rIns="0" bIns="0" rtlCol="0" anchor="ctr"/>
          <a:lstStyle/>
          <a:p>
            <a:pPr marL="0" indent="0">
              <a:buNone/>
            </a:pPr>
            <a:r>
              <a:rPr lang="en-US" sz="1400" dirty="0">
                <a:solidFill>
                  <a:srgbClr val="666666"/>
                </a:solidFill>
                <a:latin typeface="Calibri" pitchFamily="34" charset="0"/>
                <a:ea typeface="Calibri" pitchFamily="34" charset="-122"/>
                <a:cs typeface="Calibri" pitchFamily="34" charset="-120"/>
              </a:rPr>
              <a:t>A data property, a prediction stated in advance, the ablations that tested it, and one honest gap</a:t>
            </a:r>
            <a:endParaRPr lang="en-US" sz="1400" dirty="0"/>
          </a:p>
        </p:txBody>
      </p:sp>
      <p:sp>
        <p:nvSpPr>
          <p:cNvPr id="4" name="Shape 2"/>
          <p:cNvSpPr/>
          <p:nvPr/>
        </p:nvSpPr>
        <p:spPr>
          <a:xfrm>
            <a:off x="548640" y="1508760"/>
            <a:ext cx="5577840" cy="2103120"/>
          </a:xfrm>
          <a:prstGeom prst="roundRect">
            <a:avLst>
              <a:gd name="adj" fmla="val 4348"/>
            </a:avLst>
          </a:prstGeom>
          <a:solidFill>
            <a:srgbClr val="EEF2F6"/>
          </a:solidFill>
          <a:ln w="12700">
            <a:solidFill>
              <a:srgbClr val="EEF2F6"/>
            </a:solidFill>
            <a:prstDash val="solid"/>
          </a:ln>
        </p:spPr>
        <p:txBody>
          <a:bodyPr/>
          <a:lstStyle/>
          <a:p>
            <a:endParaRPr lang="en-US"/>
          </a:p>
        </p:txBody>
      </p:sp>
      <p:sp>
        <p:nvSpPr>
          <p:cNvPr id="5" name="Text 3"/>
          <p:cNvSpPr txBox="1"/>
          <p:nvPr/>
        </p:nvSpPr>
        <p:spPr>
          <a:xfrm>
            <a:off x="731520" y="1581912"/>
            <a:ext cx="5212080" cy="2011680"/>
          </a:xfrm>
          <a:prstGeom prst="rect">
            <a:avLst/>
          </a:prstGeom>
          <a:noFill/>
          <a:ln/>
        </p:spPr>
        <p:txBody>
          <a:bodyPr wrap="square" lIns="0" tIns="0" rIns="0" bIns="0" rtlCol="0" anchor="t"/>
          <a:lstStyle/>
          <a:p>
            <a:pPr marL="0" indent="0">
              <a:buNone/>
            </a:pPr>
            <a:r>
              <a:rPr lang="en-US" sz="1100" b="1" dirty="0">
                <a:solidFill>
                  <a:srgbClr val="1B2A4A"/>
                </a:solidFill>
                <a:latin typeface="Calibri" pitchFamily="34" charset="0"/>
                <a:ea typeface="Calibri" pitchFamily="34" charset="-122"/>
                <a:cs typeface="Calibri" pitchFamily="34" charset="-120"/>
              </a:rPr>
              <a:t>Data property. </a:t>
            </a:r>
            <a:r>
              <a:rPr lang="en-US" sz="1100" dirty="0">
                <a:solidFill>
                  <a:srgbClr val="222222"/>
                </a:solidFill>
                <a:latin typeface="Calibri" pitchFamily="34" charset="0"/>
                <a:ea typeface="Calibri" pitchFamily="34" charset="-122"/>
                <a:cs typeface="Calibri" pitchFamily="34" charset="-120"/>
              </a:rPr>
              <a:t>61 % of the variance in strength lies between study blocks. Fly-ash oxides and silicate composition barely vary within a block (chart, right), so on a random split a tree can identify the source and inherit its strength level.</a:t>
            </a:r>
            <a:endParaRPr lang="en-US" sz="11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100" dirty="0"/>
          </a:p>
          <a:p>
            <a:pPr marL="0" indent="0">
              <a:buNone/>
            </a:pPr>
            <a:r>
              <a:rPr lang="en-US" sz="1100" b="1" dirty="0">
                <a:solidFill>
                  <a:srgbClr val="1B2A4A"/>
                </a:solidFill>
                <a:latin typeface="Calibri" pitchFamily="34" charset="0"/>
                <a:ea typeface="Calibri" pitchFamily="34" charset="-122"/>
                <a:cs typeface="Calibri" pitchFamily="34" charset="-120"/>
              </a:rPr>
              <a:t>Prediction, stated before running. </a:t>
            </a:r>
            <a:r>
              <a:rPr lang="en-US" sz="1100" dirty="0">
                <a:solidFill>
                  <a:srgbClr val="222222"/>
                </a:solidFill>
                <a:latin typeface="Calibri" pitchFamily="34" charset="0"/>
                <a:ea typeface="Calibri" pitchFamily="34" charset="-122"/>
                <a:cs typeface="Calibri" pitchFamily="34" charset="-120"/>
              </a:rPr>
              <a:t>If that is where the trees' lead comes from, then (a) holding out whole blocks should bring every model down to the baseline's level, and (b) giving every model the block identity should lift the baseline while the trees barely move.</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3749040"/>
          <a:ext cx="55778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tblGrid>
              <a:tr h="246888">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R², seed 42</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Ridge</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Forest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XGBoost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MLP</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246888">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Mix variables, random split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0.85</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Mix variables, whole blocks held out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0.05</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0.05</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−0.86</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 block identity, random split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b="1" dirty="0">
                          <a:solidFill>
                            <a:srgbClr val="222222"/>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0.81</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0.84</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extLst>
                  <a:ext uri="{0D108BD9-81ED-4DB2-BD59-A6C34878D82A}">
                    <a16:rowId xmlns:a16="http://schemas.microsoft.com/office/drawing/2014/main" val="10003"/>
                  </a:ext>
                </a:extLst>
              </a:tr>
              <a:tr h="246888">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Block mean only, no mix variables</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b="1" dirty="0">
                          <a:solidFill>
                            <a:srgbClr val="222222"/>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1050" dirty="0">
                          <a:solidFill>
                            <a:srgbClr val="222222"/>
                          </a:solidFill>
                          <a:latin typeface="Calibri" pitchFamily="34" charset="0"/>
                          <a:ea typeface="Calibri" pitchFamily="34" charset="-122"/>
                          <a:cs typeface="Calibri" pitchFamily="34" charset="-120"/>
                        </a:rPr>
                        <a:t>Forest at depth 4, blocks held out / random</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0.02 / 0.58</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lnL w="9525" cap="flat" cmpd="sng" algn="ctr">
                      <a:solidFill>
                        <a:srgbClr val="D0D7E0"/>
                      </a:solidFill>
                      <a:prstDash val="solid"/>
                      <a:round/>
                      <a:headEnd type="none" w="med" len="med"/>
                      <a:tailEnd type="none" w="med" len="med"/>
                    </a:lnL>
                    <a:lnR w="9525" cap="flat" cmpd="sng" algn="ctr">
                      <a:solidFill>
                        <a:srgbClr val="D0D7E0"/>
                      </a:solidFill>
                      <a:prstDash val="solid"/>
                      <a:round/>
                      <a:headEnd type="none" w="med" len="med"/>
                      <a:tailEnd type="none" w="med" len="med"/>
                    </a:lnR>
                    <a:lnT w="9525" cap="flat" cmpd="sng" algn="ctr">
                      <a:solidFill>
                        <a:srgbClr val="D0D7E0"/>
                      </a:solidFill>
                      <a:prstDash val="solid"/>
                      <a:round/>
                      <a:headEnd type="none" w="med" len="med"/>
                      <a:tailEnd type="none" w="med" len="med"/>
                    </a:lnT>
                    <a:lnB w="9525" cap="flat" cmpd="sng" algn="ctr">
                      <a:solidFill>
                        <a:srgbClr val="D0D7E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Text 4"/>
          <p:cNvSpPr txBox="1"/>
          <p:nvPr/>
        </p:nvSpPr>
        <p:spPr>
          <a:xfrm>
            <a:off x="548640" y="5303520"/>
            <a:ext cx="5577840" cy="1005840"/>
          </a:xfrm>
          <a:prstGeom prst="rect">
            <a:avLst/>
          </a:prstGeom>
          <a:noFill/>
          <a:ln/>
        </p:spPr>
        <p:txBody>
          <a:bodyPr wrap="square" lIns="0" tIns="0" rIns="0" bIns="0" rtlCol="0" anchor="t"/>
          <a:lstStyle/>
          <a:p>
            <a:pPr marL="0" indent="0">
              <a:buNone/>
            </a:pPr>
            <a:r>
              <a:rPr lang="en-US" sz="1000" b="1" dirty="0">
                <a:solidFill>
                  <a:srgbClr val="1B2A4A"/>
                </a:solidFill>
                <a:latin typeface="Calibri" pitchFamily="34" charset="0"/>
                <a:ea typeface="Calibri" pitchFamily="34" charset="-122"/>
                <a:cs typeface="Calibri" pitchFamily="34" charset="-120"/>
              </a:rPr>
              <a:t>Result. </a:t>
            </a:r>
            <a:r>
              <a:rPr lang="en-US" sz="1000" dirty="0">
                <a:solidFill>
                  <a:srgbClr val="222222"/>
                </a:solidFill>
                <a:latin typeface="Calibri" pitchFamily="34" charset="0"/>
                <a:ea typeface="Calibri" pitchFamily="34" charset="-122"/>
                <a:cs typeface="Calibri" pitchFamily="34" charset="-120"/>
              </a:rPr>
              <a:t>(a) held: the forest fell to the baseline's level and the MLP below it. (b) held: the baseline rose 0.47 → 0.70 while the trees moved by 0.01 (the gap closed; the ranking did not change). Knowing only the block (0.53) beats the chemistry baseline (0.47). What (a) did not predict: XGBoost kept 0.16. Across re-drawn fold assignments every by-study number moves by up to ±0.1, but XGBoost &gt; forest and MLP last hold in every draw.</a:t>
            </a:r>
            <a:endParaRPr lang="en-US" sz="1000" dirty="0"/>
          </a:p>
        </p:txBody>
      </p:sp>
      <p:pic>
        <p:nvPicPr>
          <p:cNvPr id="8" name="Image 0" descr="/home/claude/jiang/figures/F2_fingerprint.png"/>
          <p:cNvPicPr>
            <a:picLocks noChangeAspect="1"/>
          </p:cNvPicPr>
          <p:nvPr/>
        </p:nvPicPr>
        <p:blipFill>
          <a:blip r:embed="rId3"/>
          <a:stretch>
            <a:fillRect/>
          </a:stretch>
        </p:blipFill>
        <p:spPr>
          <a:xfrm>
            <a:off x="6400800" y="1508760"/>
            <a:ext cx="5212080" cy="2834640"/>
          </a:xfrm>
          <a:prstGeom prst="rect">
            <a:avLst/>
          </a:prstGeom>
        </p:spPr>
      </p:pic>
      <p:sp>
        <p:nvSpPr>
          <p:cNvPr id="9" name="Text 5"/>
          <p:cNvSpPr txBox="1"/>
          <p:nvPr/>
        </p:nvSpPr>
        <p:spPr>
          <a:xfrm>
            <a:off x="6400800" y="4343400"/>
            <a:ext cx="5212080" cy="320040"/>
          </a:xfrm>
          <a:prstGeom prst="rect">
            <a:avLst/>
          </a:prstGeom>
          <a:noFill/>
          <a:ln/>
        </p:spPr>
        <p:txBody>
          <a:bodyPr wrap="square" lIns="0" tIns="0" rIns="0" bIns="0" rtlCol="0" anchor="ctr"/>
          <a:lstStyle/>
          <a:p>
            <a:pPr marL="0" indent="0">
              <a:buNone/>
            </a:pPr>
            <a:r>
              <a:rPr lang="en-US" sz="1000" dirty="0">
                <a:solidFill>
                  <a:srgbClr val="666666"/>
                </a:solidFill>
                <a:latin typeface="Calibri" pitchFamily="34" charset="0"/>
                <a:ea typeface="Calibri" pitchFamily="34" charset="-122"/>
                <a:cs typeface="Calibri" pitchFamily="34" charset="-120"/>
              </a:rPr>
              <a:t>Within-block spread of each feature as a fraction of its overall spread. Near zero = a source fingerprint.</a:t>
            </a:r>
            <a:endParaRPr lang="en-US" sz="1000" dirty="0"/>
          </a:p>
        </p:txBody>
      </p:sp>
      <p:sp>
        <p:nvSpPr>
          <p:cNvPr id="10" name="Shape 6"/>
          <p:cNvSpPr/>
          <p:nvPr/>
        </p:nvSpPr>
        <p:spPr>
          <a:xfrm>
            <a:off x="6400800" y="4663440"/>
            <a:ext cx="5212080" cy="1691640"/>
          </a:xfrm>
          <a:prstGeom prst="roundRect">
            <a:avLst>
              <a:gd name="adj" fmla="val 5405"/>
            </a:avLst>
          </a:prstGeom>
          <a:solidFill>
            <a:srgbClr val="EEF2F6"/>
          </a:solidFill>
          <a:ln w="12700">
            <a:solidFill>
              <a:srgbClr val="EEF2F6"/>
            </a:solidFill>
            <a:prstDash val="solid"/>
          </a:ln>
        </p:spPr>
        <p:txBody>
          <a:bodyPr/>
          <a:lstStyle/>
          <a:p>
            <a:endParaRPr lang="en-US"/>
          </a:p>
        </p:txBody>
      </p:sp>
      <p:sp>
        <p:nvSpPr>
          <p:cNvPr id="11" name="Text 7"/>
          <p:cNvSpPr txBox="1"/>
          <p:nvPr/>
        </p:nvSpPr>
        <p:spPr>
          <a:xfrm>
            <a:off x="6537960" y="4709160"/>
            <a:ext cx="4937760" cy="1627632"/>
          </a:xfrm>
          <a:prstGeom prst="rect">
            <a:avLst/>
          </a:prstGeom>
          <a:noFill/>
          <a:ln/>
        </p:spPr>
        <p:txBody>
          <a:bodyPr wrap="square" lIns="0" tIns="0" rIns="0" bIns="0" rtlCol="0" anchor="t"/>
          <a:lstStyle/>
          <a:p>
            <a:pPr marL="0" indent="0">
              <a:buNone/>
            </a:pPr>
            <a:r>
              <a:rPr lang="en-US" sz="950" b="1" dirty="0">
                <a:solidFill>
                  <a:srgbClr val="1B2A4A"/>
                </a:solidFill>
                <a:latin typeface="Calibri" pitchFamily="34" charset="0"/>
                <a:ea typeface="Calibri" pitchFamily="34" charset="-122"/>
                <a:cs typeface="Calibri" pitchFamily="34" charset="-120"/>
              </a:rPr>
              <a:t>The open gap: why XGBoost beats the forest. </a:t>
            </a:r>
            <a:r>
              <a:rPr lang="en-US" sz="950" dirty="0">
                <a:solidFill>
                  <a:srgbClr val="222222"/>
                </a:solidFill>
                <a:latin typeface="Calibri" pitchFamily="34" charset="0"/>
                <a:ea typeface="Calibri" pitchFamily="34" charset="-122"/>
                <a:cs typeface="Calibri" pitchFamily="34" charset="-120"/>
              </a:rPr>
              <a:t>The laboratory property explains the trees' lead over ridge, not XGBoost's margin over the forest. I tested one candidate, depth: a forest limited to depth 4 fell to 0.02 across blocks, but also to 0.58 on the random split, so it underfits everywhere and the test cannot separate depth from capacity. The margin is real (every fold draw) and its cause is untested. Candidates for a next test: boosting on residuals versus bagging at equal depth; and the MLP's negative score pointing to unbounded extrapolation on unseen sources. Implication for my thesis: R² above 0.9 on a random split of a compiled database is memorisation, so WP3 validates by held-out study.</a:t>
            </a:r>
            <a:endParaRPr lang="en-US" sz="950" dirty="0"/>
          </a:p>
        </p:txBody>
      </p:sp>
      <p:sp>
        <p:nvSpPr>
          <p:cNvPr id="12" name="Text 8"/>
          <p:cNvSpPr txBox="1"/>
          <p:nvPr/>
        </p:nvSpPr>
        <p:spPr>
          <a:xfrm>
            <a:off x="548640" y="6400800"/>
            <a:ext cx="11064240" cy="274320"/>
          </a:xfrm>
          <a:prstGeom prst="rect">
            <a:avLst/>
          </a:prstGeom>
          <a:noFill/>
          <a:ln/>
        </p:spPr>
        <p:txBody>
          <a:bodyPr wrap="square" lIns="0" tIns="0" rIns="0" bIns="0" rtlCol="0" anchor="ctr"/>
          <a:lstStyle/>
          <a:p>
            <a:pPr marL="0" indent="0">
              <a:buNone/>
            </a:pPr>
            <a:r>
              <a:rPr lang="en-US" sz="900" dirty="0">
                <a:solidFill>
                  <a:srgbClr val="666666"/>
                </a:solidFill>
                <a:latin typeface="Calibri" pitchFamily="34" charset="0"/>
                <a:ea typeface="Calibri" pitchFamily="34" charset="-122"/>
                <a:cs typeface="Calibri" pitchFamily="34" charset="-120"/>
              </a:rPr>
              <a:t>CSBP 711 · Assignment 1 · Hakem Alkhraisha · 5/5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1828</Words>
  <Application>Microsoft Office PowerPoint</Application>
  <PresentationFormat>Widescreen</PresentationFormat>
  <Paragraphs>160</Paragraphs>
  <Slides>5</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Hakem Alkhraisha</cp:lastModifiedBy>
  <cp:revision>1</cp:revision>
  <dcterms:created xsi:type="dcterms:W3CDTF">2026-10-05T03:57:39Z</dcterms:created>
  <dcterms:modified xsi:type="dcterms:W3CDTF">2026-10-05T05:28:33Z</dcterms:modified>
</cp:coreProperties>
</file>
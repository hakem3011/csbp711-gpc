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Predicting geopolymer concrete strength from its mix design</a:t>
            </a:r>
            <a:endParaRPr lang="en-US" sz="30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indent="0" marL="0">
              <a:buNone/>
            </a:pPr>
            <a:r>
              <a:rPr lang="en-US" sz="1400" dirty="0">
                <a:solidFill>
                  <a:srgbClr val="666666"/>
                </a:solidFill>
                <a:latin typeface="Calibri" pitchFamily="34" charset="0"/>
                <a:ea typeface="Calibri" pitchFamily="34" charset="-122"/>
                <a:cs typeface="Calibri" pitchFamily="34" charset="-120"/>
              </a:rPr>
              <a:t>Hakem Mohammad Alkhraisha (700043202) · CSBP 711 Advanced AI, Dr. Ahmed Bediwy · Assignment 1 · 4 October 2026</a:t>
            </a:r>
            <a:endParaRPr lang="en-US" sz="1400" dirty="0"/>
          </a:p>
        </p:txBody>
      </p:sp>
      <p:sp>
        <p:nvSpPr>
          <p:cNvPr id="4" name="Shape 2"/>
          <p:cNvSpPr/>
          <p:nvPr/>
        </p:nvSpPr>
        <p:spPr>
          <a:xfrm>
            <a:off x="548640" y="1554480"/>
            <a:ext cx="2651760" cy="1234440"/>
          </a:xfrm>
          <a:prstGeom prst="roundRect">
            <a:avLst>
              <a:gd name="adj" fmla="val 7407"/>
            </a:avLst>
          </a:prstGeom>
          <a:solidFill>
            <a:srgbClr val="EEF2F6"/>
          </a:solidFill>
          <a:ln w="12700">
            <a:solidFill>
              <a:srgbClr val="EEF2F6"/>
            </a:solidFill>
            <a:prstDash val="solid"/>
          </a:ln>
        </p:spPr>
      </p:sp>
      <p:sp>
        <p:nvSpPr>
          <p:cNvPr id="5" name="Text 3"/>
          <p:cNvSpPr txBox="1"/>
          <p:nvPr/>
        </p:nvSpPr>
        <p:spPr>
          <a:xfrm>
            <a:off x="548640" y="1664208"/>
            <a:ext cx="2651760" cy="640080"/>
          </a:xfrm>
          <a:prstGeom prst="rect">
            <a:avLst/>
          </a:prstGeom>
          <a:noFill/>
          <a:ln/>
        </p:spPr>
        <p:txBody>
          <a:bodyPr wrap="square" lIns="0" tIns="0" rIns="0" bIns="0" rtlCol="0" anchor="ctr"/>
          <a:lstStyle/>
          <a:p>
            <a:pPr algn="ctr" indent="0" marL="0">
              <a:buNone/>
            </a:pPr>
            <a:r>
              <a:rPr lang="en-US" sz="3200" b="1" dirty="0">
                <a:solidFill>
                  <a:srgbClr val="1B2A4A"/>
                </a:solidFill>
                <a:latin typeface="Cambria" pitchFamily="34" charset="0"/>
                <a:ea typeface="Cambria" pitchFamily="34" charset="-122"/>
                <a:cs typeface="Cambria" pitchFamily="34" charset="-120"/>
              </a:rPr>
              <a:t>1,136</a:t>
            </a:r>
            <a:endParaRPr lang="en-US" sz="3200" dirty="0"/>
          </a:p>
        </p:txBody>
      </p:sp>
      <p:sp>
        <p:nvSpPr>
          <p:cNvPr id="6" name="Text 4"/>
          <p:cNvSpPr txBox="1"/>
          <p:nvPr/>
        </p:nvSpPr>
        <p:spPr>
          <a:xfrm>
            <a:off x="685800" y="2304288"/>
            <a:ext cx="2377440" cy="411480"/>
          </a:xfrm>
          <a:prstGeom prst="rect">
            <a:avLst/>
          </a:prstGeom>
          <a:noFill/>
          <a:ln/>
        </p:spPr>
        <p:txBody>
          <a:bodyPr wrap="square" lIns="0" tIns="0" rIns="0" bIns="0"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mixes, one row each</a:t>
            </a:r>
            <a:endParaRPr lang="en-US" sz="1200" dirty="0"/>
          </a:p>
        </p:txBody>
      </p:sp>
      <p:sp>
        <p:nvSpPr>
          <p:cNvPr id="7" name="Shape 5"/>
          <p:cNvSpPr/>
          <p:nvPr/>
        </p:nvSpPr>
        <p:spPr>
          <a:xfrm>
            <a:off x="3383280" y="1554480"/>
            <a:ext cx="2651760" cy="1234440"/>
          </a:xfrm>
          <a:prstGeom prst="roundRect">
            <a:avLst>
              <a:gd name="adj" fmla="val 7407"/>
            </a:avLst>
          </a:prstGeom>
          <a:solidFill>
            <a:srgbClr val="EEF2F6"/>
          </a:solidFill>
          <a:ln w="12700">
            <a:solidFill>
              <a:srgbClr val="EEF2F6"/>
            </a:solidFill>
            <a:prstDash val="solid"/>
          </a:ln>
        </p:spPr>
      </p:sp>
      <p:sp>
        <p:nvSpPr>
          <p:cNvPr id="8" name="Text 6"/>
          <p:cNvSpPr txBox="1"/>
          <p:nvPr/>
        </p:nvSpPr>
        <p:spPr>
          <a:xfrm>
            <a:off x="3383280" y="1664208"/>
            <a:ext cx="2651760" cy="640080"/>
          </a:xfrm>
          <a:prstGeom prst="rect">
            <a:avLst/>
          </a:prstGeom>
          <a:noFill/>
          <a:ln/>
        </p:spPr>
        <p:txBody>
          <a:bodyPr wrap="square" lIns="0" tIns="0" rIns="0" bIns="0" rtlCol="0" anchor="ctr"/>
          <a:lstStyle/>
          <a:p>
            <a:pPr algn="ctr" indent="0" marL="0">
              <a:buNone/>
            </a:pPr>
            <a:r>
              <a:rPr lang="en-US" sz="3200" b="1" dirty="0">
                <a:solidFill>
                  <a:srgbClr val="1B2A4A"/>
                </a:solidFill>
                <a:latin typeface="Cambria" pitchFamily="34" charset="0"/>
                <a:ea typeface="Cambria" pitchFamily="34" charset="-122"/>
                <a:cs typeface="Cambria" pitchFamily="34" charset="-120"/>
              </a:rPr>
              <a:t>83</a:t>
            </a:r>
            <a:endParaRPr lang="en-US" sz="3200" dirty="0"/>
          </a:p>
        </p:txBody>
      </p:sp>
      <p:sp>
        <p:nvSpPr>
          <p:cNvPr id="9" name="Text 7"/>
          <p:cNvSpPr txBox="1"/>
          <p:nvPr/>
        </p:nvSpPr>
        <p:spPr>
          <a:xfrm>
            <a:off x="3520440" y="2304288"/>
            <a:ext cx="2377440" cy="411480"/>
          </a:xfrm>
          <a:prstGeom prst="rect">
            <a:avLst/>
          </a:prstGeom>
          <a:noFill/>
          <a:ln/>
        </p:spPr>
        <p:txBody>
          <a:bodyPr wrap="square" lIns="0" tIns="0" rIns="0" bIns="0"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study blocks, each citing its paper</a:t>
            </a:r>
            <a:endParaRPr lang="en-US" sz="1200" dirty="0"/>
          </a:p>
        </p:txBody>
      </p:sp>
      <p:sp>
        <p:nvSpPr>
          <p:cNvPr id="10" name="Shape 8"/>
          <p:cNvSpPr/>
          <p:nvPr/>
        </p:nvSpPr>
        <p:spPr>
          <a:xfrm>
            <a:off x="6217920" y="1554480"/>
            <a:ext cx="2651760" cy="1234440"/>
          </a:xfrm>
          <a:prstGeom prst="roundRect">
            <a:avLst>
              <a:gd name="adj" fmla="val 7407"/>
            </a:avLst>
          </a:prstGeom>
          <a:solidFill>
            <a:srgbClr val="EEF2F6"/>
          </a:solidFill>
          <a:ln w="12700">
            <a:solidFill>
              <a:srgbClr val="EEF2F6"/>
            </a:solidFill>
            <a:prstDash val="solid"/>
          </a:ln>
        </p:spPr>
      </p:sp>
      <p:sp>
        <p:nvSpPr>
          <p:cNvPr id="11" name="Text 9"/>
          <p:cNvSpPr txBox="1"/>
          <p:nvPr/>
        </p:nvSpPr>
        <p:spPr>
          <a:xfrm>
            <a:off x="6217920" y="1664208"/>
            <a:ext cx="2651760" cy="640080"/>
          </a:xfrm>
          <a:prstGeom prst="rect">
            <a:avLst/>
          </a:prstGeom>
          <a:noFill/>
          <a:ln/>
        </p:spPr>
        <p:txBody>
          <a:bodyPr wrap="square" lIns="0" tIns="0" rIns="0" bIns="0" rtlCol="0" anchor="ctr"/>
          <a:lstStyle/>
          <a:p>
            <a:pPr algn="ctr" indent="0" marL="0">
              <a:buNone/>
            </a:pPr>
            <a:r>
              <a:rPr lang="en-US" sz="3200" b="1" dirty="0">
                <a:solidFill>
                  <a:srgbClr val="1B2A4A"/>
                </a:solidFill>
                <a:latin typeface="Cambria" pitchFamily="34" charset="0"/>
                <a:ea typeface="Cambria" pitchFamily="34" charset="-122"/>
                <a:cs typeface="Cambria" pitchFamily="34" charset="-120"/>
              </a:rPr>
              <a:t>17 + 1</a:t>
            </a:r>
            <a:endParaRPr lang="en-US" sz="3200" dirty="0"/>
          </a:p>
        </p:txBody>
      </p:sp>
      <p:sp>
        <p:nvSpPr>
          <p:cNvPr id="12" name="Text 10"/>
          <p:cNvSpPr txBox="1"/>
          <p:nvPr/>
        </p:nvSpPr>
        <p:spPr>
          <a:xfrm>
            <a:off x="6355080" y="2304288"/>
            <a:ext cx="2377440" cy="411480"/>
          </a:xfrm>
          <a:prstGeom prst="rect">
            <a:avLst/>
          </a:prstGeom>
          <a:noFill/>
          <a:ln/>
        </p:spPr>
        <p:txBody>
          <a:bodyPr wrap="square" lIns="0" tIns="0" rIns="0" bIns="0"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raw mix variables + specimen type</a:t>
            </a:r>
            <a:endParaRPr lang="en-US" sz="1200" dirty="0"/>
          </a:p>
        </p:txBody>
      </p:sp>
      <p:sp>
        <p:nvSpPr>
          <p:cNvPr id="13" name="Shape 11"/>
          <p:cNvSpPr/>
          <p:nvPr/>
        </p:nvSpPr>
        <p:spPr>
          <a:xfrm>
            <a:off x="9052560" y="1554480"/>
            <a:ext cx="2560320" cy="1234440"/>
          </a:xfrm>
          <a:prstGeom prst="roundRect">
            <a:avLst>
              <a:gd name="adj" fmla="val 7407"/>
            </a:avLst>
          </a:prstGeom>
          <a:solidFill>
            <a:srgbClr val="EEF2F6"/>
          </a:solidFill>
          <a:ln w="12700">
            <a:solidFill>
              <a:srgbClr val="EEF2F6"/>
            </a:solidFill>
            <a:prstDash val="solid"/>
          </a:ln>
        </p:spPr>
      </p:sp>
      <p:sp>
        <p:nvSpPr>
          <p:cNvPr id="14" name="Text 12"/>
          <p:cNvSpPr txBox="1"/>
          <p:nvPr/>
        </p:nvSpPr>
        <p:spPr>
          <a:xfrm>
            <a:off x="9052560" y="1664208"/>
            <a:ext cx="2560320" cy="640080"/>
          </a:xfrm>
          <a:prstGeom prst="rect">
            <a:avLst/>
          </a:prstGeom>
          <a:noFill/>
          <a:ln/>
        </p:spPr>
        <p:txBody>
          <a:bodyPr wrap="square" lIns="0" tIns="0" rIns="0" bIns="0" rtlCol="0" anchor="ctr"/>
          <a:lstStyle/>
          <a:p>
            <a:pPr algn="ctr" indent="0" marL="0">
              <a:buNone/>
            </a:pPr>
            <a:r>
              <a:rPr lang="en-US" sz="3200" b="1" dirty="0">
                <a:solidFill>
                  <a:srgbClr val="1B2A4A"/>
                </a:solidFill>
                <a:latin typeface="Cambria" pitchFamily="34" charset="0"/>
                <a:ea typeface="Cambria" pitchFamily="34" charset="-122"/>
                <a:cs typeface="Cambria" pitchFamily="34" charset="-120"/>
              </a:rPr>
              <a:t>CC BY 4.0</a:t>
            </a:r>
            <a:endParaRPr lang="en-US" sz="3200" dirty="0"/>
          </a:p>
        </p:txBody>
      </p:sp>
      <p:sp>
        <p:nvSpPr>
          <p:cNvPr id="15" name="Text 13"/>
          <p:cNvSpPr txBox="1"/>
          <p:nvPr/>
        </p:nvSpPr>
        <p:spPr>
          <a:xfrm>
            <a:off x="9189720" y="2304288"/>
            <a:ext cx="2286000" cy="411480"/>
          </a:xfrm>
          <a:prstGeom prst="rect">
            <a:avLst/>
          </a:prstGeom>
          <a:noFill/>
          <a:ln/>
        </p:spPr>
        <p:txBody>
          <a:bodyPr wrap="square" lIns="0" tIns="0" rIns="0" bIns="0"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open licence (PLOS ONE)</a:t>
            </a:r>
            <a:endParaRPr lang="en-US" sz="1200" dirty="0"/>
          </a:p>
        </p:txBody>
      </p:sp>
      <p:sp>
        <p:nvSpPr>
          <p:cNvPr id="16" name="Text 14"/>
          <p:cNvSpPr txBox="1"/>
          <p:nvPr/>
        </p:nvSpPr>
        <p:spPr>
          <a:xfrm>
            <a:off x="548640" y="3017520"/>
            <a:ext cx="11064240" cy="36576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Jiang, Zhao, Jin, Ye, Luan &amp; Tufail (2024), PLOS ONE 19(9): e0310422, S1 Table (file pone.0310422.s002.xlsx) — downloaded 29 Sep 2026</a:t>
            </a:r>
            <a:endParaRPr lang="en-US" sz="1300" dirty="0"/>
          </a:p>
        </p:txBody>
      </p:sp>
      <p:sp>
        <p:nvSpPr>
          <p:cNvPr id="17" name="Text 15"/>
          <p:cNvSpPr txBox="1"/>
          <p:nvPr/>
        </p:nvSpPr>
        <p:spPr>
          <a:xfrm>
            <a:off x="548640" y="3520440"/>
            <a:ext cx="7498080"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22222"/>
                </a:solidFill>
                <a:latin typeface="Calibri" pitchFamily="34" charset="0"/>
                <a:ea typeface="Calibri" pitchFamily="34" charset="-122"/>
                <a:cs typeface="Calibri" pitchFamily="34" charset="-120"/>
              </a:rPr>
              <a:t>How it was collected: the authors searched Web of Science and Google Scholar, kept only studies reporting every key variable (fly-ash chemistry, mix proportions, activator composition, curing, specimen type, strength), and transcribed 1,136 mixes into one spreadsheet, each block of rows citing its source paper (83 blocks; one paper appears under two spellings).</a:t>
            </a:r>
            <a:endParaRPr lang="en-US" sz="1400" dirty="0"/>
          </a:p>
          <a:p>
            <a:pPr marL="342900" indent="-342900">
              <a:spcAft>
                <a:spcPts val="600"/>
              </a:spcAft>
              <a:buSzPct val="100000"/>
              <a:buChar char="•"/>
            </a:pPr>
            <a:r>
              <a:rPr lang="en-US" sz="1400" dirty="0">
                <a:solidFill>
                  <a:srgbClr val="222222"/>
                </a:solidFill>
                <a:latin typeface="Calibri" pitchFamily="34" charset="0"/>
                <a:ea typeface="Calibri" pitchFamily="34" charset="-122"/>
                <a:cs typeface="Calibri" pitchFamily="34" charset="-120"/>
              </a:rPr>
              <a:t>Task: supervised regression, strength (1–87 MPa) from composition and curing.</a:t>
            </a:r>
            <a:endParaRPr lang="en-US" sz="1400" dirty="0"/>
          </a:p>
          <a:p>
            <a:pPr marL="342900" indent="-342900">
              <a:spcAft>
                <a:spcPts val="600"/>
              </a:spcAft>
              <a:buSzPct val="100000"/>
              <a:buChar char="•"/>
            </a:pPr>
            <a:r>
              <a:rPr lang="en-US" sz="1400" dirty="0">
                <a:solidFill>
                  <a:srgbClr val="222222"/>
                </a:solidFill>
                <a:latin typeface="Calibri" pitchFamily="34" charset="0"/>
                <a:ea typeface="Calibri" pitchFamily="34" charset="-122"/>
                <a:cs typeface="Calibri" pitchFamily="34" charset="-120"/>
              </a:rPr>
              <a:t>Thesis link: my dissertation predicts the constitutive quantities of geopolymer concrete (fracture energy, softening shape) from exactly these inputs, and validates by holding out whole studies. This assignment is that pipeline, tested first on the one target the literature has already compiled.</a:t>
            </a:r>
            <a:endParaRPr lang="en-US" sz="1400" dirty="0"/>
          </a:p>
        </p:txBody>
      </p:sp>
      <p:sp>
        <p:nvSpPr>
          <p:cNvPr id="18" name="Shape 16"/>
          <p:cNvSpPr/>
          <p:nvPr/>
        </p:nvSpPr>
        <p:spPr>
          <a:xfrm>
            <a:off x="8412480" y="3520440"/>
            <a:ext cx="3200400" cy="2651760"/>
          </a:xfrm>
          <a:prstGeom prst="roundRect">
            <a:avLst>
              <a:gd name="adj" fmla="val 3448"/>
            </a:avLst>
          </a:prstGeom>
          <a:solidFill>
            <a:srgbClr val="1B2A4A"/>
          </a:solidFill>
          <a:ln w="12700">
            <a:solidFill>
              <a:srgbClr val="1B2A4A"/>
            </a:solidFill>
            <a:prstDash val="solid"/>
          </a:ln>
        </p:spPr>
      </p:sp>
      <p:sp>
        <p:nvSpPr>
          <p:cNvPr id="19" name="Text 17"/>
          <p:cNvSpPr txBox="1"/>
          <p:nvPr/>
        </p:nvSpPr>
        <p:spPr>
          <a:xfrm>
            <a:off x="8595360" y="3703320"/>
            <a:ext cx="2834640" cy="22860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Repository</a:t>
            </a:r>
            <a:endParaRPr lang="en-US" sz="1400" dirty="0"/>
          </a:p>
          <a:p>
            <a:pPr indent="0" marL="0">
              <a:buNone/>
            </a:pPr>
            <a:r>
              <a:rPr lang="en-US" sz="1200" dirty="0">
                <a:solidFill>
                  <a:srgbClr val="9BB7CF"/>
                </a:solidFill>
                <a:latin typeface="Calibri" pitchFamily="34" charset="0"/>
                <a:ea typeface="Calibri" pitchFamily="34" charset="-122"/>
                <a:cs typeface="Calibri" pitchFamily="34" charset="-120"/>
              </a:rPr>
              <a:t>github.com/Hakem3011/csbp711-gpc</a:t>
            </a:r>
            <a:endParaRPr lang="en-US" sz="14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FFFFFF"/>
                </a:solidFill>
                <a:latin typeface="Calibri" pitchFamily="34" charset="0"/>
                <a:ea typeface="Calibri" pitchFamily="34" charset="-122"/>
                <a:cs typeface="Calibri" pitchFamily="34" charset="-120"/>
              </a:rPr>
              <a:t>Working alone</a:t>
            </a:r>
            <a:endParaRPr lang="en-US" sz="1400" dirty="0"/>
          </a:p>
          <a:p>
            <a:pPr indent="0" marL="0">
              <a:buNone/>
            </a:pPr>
            <a:r>
              <a:rPr lang="en-US" sz="1200" dirty="0">
                <a:solidFill>
                  <a:srgbClr val="9BB7CF"/>
                </a:solidFill>
                <a:latin typeface="Calibri" pitchFamily="34" charset="0"/>
                <a:ea typeface="Calibri" pitchFamily="34" charset="-122"/>
                <a:cs typeface="Calibri" pitchFamily="34" charset="-120"/>
              </a:rPr>
              <a:t>Dataset and pipeline feed directly into the dissertation (WP3)</a:t>
            </a:r>
            <a:endParaRPr lang="en-US" sz="1400" dirty="0"/>
          </a:p>
        </p:txBody>
      </p:sp>
      <p:sp>
        <p:nvSpPr>
          <p:cNvPr id="20" name="Text 18"/>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900" dirty="0">
                <a:solidFill>
                  <a:srgbClr val="666666"/>
                </a:solidFill>
                <a:latin typeface="Calibri" pitchFamily="34" charset="0"/>
                <a:ea typeface="Calibri" pitchFamily="34" charset="-122"/>
                <a:cs typeface="Calibri" pitchFamily="34" charset="-120"/>
              </a:rPr>
              <a:t>CSBP 711 · Assignment 1 · Hakem Alkhraisha · 1/5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Handling the data: size, features, splits, balance, problems</a:t>
            </a:r>
            <a:endParaRPr lang="en-US" sz="30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indent="0" marL="0">
              <a:buNone/>
            </a:pPr>
            <a:r>
              <a:rPr lang="en-US" sz="1400" dirty="0">
                <a:solidFill>
                  <a:srgbClr val="666666"/>
                </a:solidFill>
                <a:latin typeface="Calibri" pitchFamily="34" charset="0"/>
                <a:ea typeface="Calibri" pitchFamily="34" charset="-122"/>
                <a:cs typeface="Calibri" pitchFamily="34" charset="-120"/>
              </a:rPr>
              <a:t>Every number below is written by run_jiang.py (results/data_audit.txt) or audit_overlap.py (results/overlap_audit.txt)</a:t>
            </a:r>
            <a:endParaRPr lang="en-US" sz="1400" dirty="0"/>
          </a:p>
        </p:txBody>
      </p:sp>
      <p:sp>
        <p:nvSpPr>
          <p:cNvPr id="4" name="Shape 2"/>
          <p:cNvSpPr/>
          <p:nvPr/>
        </p:nvSpPr>
        <p:spPr>
          <a:xfrm>
            <a:off x="548640" y="1463040"/>
            <a:ext cx="2651760" cy="960120"/>
          </a:xfrm>
          <a:prstGeom prst="roundRect">
            <a:avLst>
              <a:gd name="adj" fmla="val 7619"/>
            </a:avLst>
          </a:prstGeom>
          <a:solidFill>
            <a:srgbClr val="EEF2F6"/>
          </a:solidFill>
          <a:ln w="12700">
            <a:solidFill>
              <a:srgbClr val="EEF2F6"/>
            </a:solidFill>
            <a:prstDash val="solid"/>
          </a:ln>
        </p:spPr>
      </p:sp>
      <p:sp>
        <p:nvSpPr>
          <p:cNvPr id="5" name="Text 3"/>
          <p:cNvSpPr txBox="1"/>
          <p:nvPr/>
        </p:nvSpPr>
        <p:spPr>
          <a:xfrm>
            <a:off x="685800" y="1508760"/>
            <a:ext cx="2377440" cy="274320"/>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Size</a:t>
            </a:r>
            <a:endParaRPr lang="en-US" sz="1300" dirty="0"/>
          </a:p>
        </p:txBody>
      </p:sp>
      <p:sp>
        <p:nvSpPr>
          <p:cNvPr id="6" name="Text 4"/>
          <p:cNvSpPr txBox="1"/>
          <p:nvPr/>
        </p:nvSpPr>
        <p:spPr>
          <a:xfrm>
            <a:off x="685800" y="1783080"/>
            <a:ext cx="2423160" cy="621792"/>
          </a:xfrm>
          <a:prstGeom prst="rect">
            <a:avLst/>
          </a:prstGeom>
          <a:noFill/>
          <a:ln/>
        </p:spPr>
        <p:txBody>
          <a:bodyPr wrap="square" lIns="0" tIns="0" rIns="0" bIns="0" rtlCol="0" anchor="t"/>
          <a:lstStyle/>
          <a:p>
            <a:pPr indent="0" marL="0">
              <a:buNone/>
            </a:pPr>
            <a:r>
              <a:rPr lang="en-US" sz="1050" dirty="0">
                <a:solidFill>
                  <a:srgbClr val="222222"/>
                </a:solidFill>
                <a:latin typeface="Calibri" pitchFamily="34" charset="0"/>
                <a:ea typeface="Calibri" pitchFamily="34" charset="-122"/>
                <a:cs typeface="Calibri" pitchFamily="34" charset="-120"/>
              </a:rPr>
              <a:t>1,136 rows × 41 columns as published</a:t>
            </a:r>
            <a:endParaRPr lang="en-US" sz="1050" dirty="0"/>
          </a:p>
          <a:p>
            <a:pPr indent="0" marL="0">
              <a:buNone/>
            </a:pPr>
            <a:r>
              <a:rPr lang="en-US" sz="1050" dirty="0">
                <a:solidFill>
                  <a:srgbClr val="222222"/>
                </a:solidFill>
                <a:latin typeface="Calibri" pitchFamily="34" charset="0"/>
                <a:ea typeface="Calibri" pitchFamily="34" charset="-122"/>
                <a:cs typeface="Calibri" pitchFamily="34" charset="-120"/>
              </a:rPr>
              <a:t>1,122 rows used after duplicates</a:t>
            </a:r>
            <a:endParaRPr lang="en-US" sz="1050" dirty="0"/>
          </a:p>
        </p:txBody>
      </p:sp>
      <p:sp>
        <p:nvSpPr>
          <p:cNvPr id="7" name="Shape 5"/>
          <p:cNvSpPr/>
          <p:nvPr/>
        </p:nvSpPr>
        <p:spPr>
          <a:xfrm>
            <a:off x="3337560" y="1463040"/>
            <a:ext cx="2651760" cy="960120"/>
          </a:xfrm>
          <a:prstGeom prst="roundRect">
            <a:avLst>
              <a:gd name="adj" fmla="val 7619"/>
            </a:avLst>
          </a:prstGeom>
          <a:solidFill>
            <a:srgbClr val="EEF2F6"/>
          </a:solidFill>
          <a:ln w="12700">
            <a:solidFill>
              <a:srgbClr val="EEF2F6"/>
            </a:solidFill>
            <a:prstDash val="solid"/>
          </a:ln>
        </p:spPr>
      </p:sp>
      <p:sp>
        <p:nvSpPr>
          <p:cNvPr id="8" name="Text 6"/>
          <p:cNvSpPr txBox="1"/>
          <p:nvPr/>
        </p:nvSpPr>
        <p:spPr>
          <a:xfrm>
            <a:off x="3474720" y="1508760"/>
            <a:ext cx="2377440" cy="274320"/>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Features</a:t>
            </a:r>
            <a:endParaRPr lang="en-US" sz="1300" dirty="0"/>
          </a:p>
        </p:txBody>
      </p:sp>
      <p:sp>
        <p:nvSpPr>
          <p:cNvPr id="9" name="Text 7"/>
          <p:cNvSpPr txBox="1"/>
          <p:nvPr/>
        </p:nvSpPr>
        <p:spPr>
          <a:xfrm>
            <a:off x="3474720" y="1783080"/>
            <a:ext cx="2423160" cy="621792"/>
          </a:xfrm>
          <a:prstGeom prst="rect">
            <a:avLst/>
          </a:prstGeom>
          <a:noFill/>
          <a:ln/>
        </p:spPr>
        <p:txBody>
          <a:bodyPr wrap="square" lIns="0" tIns="0" rIns="0" bIns="0" rtlCol="0" anchor="t"/>
          <a:lstStyle/>
          <a:p>
            <a:pPr indent="0" marL="0">
              <a:buNone/>
            </a:pPr>
            <a:r>
              <a:rPr lang="en-US" sz="1050" dirty="0">
                <a:solidFill>
                  <a:srgbClr val="222222"/>
                </a:solidFill>
                <a:latin typeface="Calibri" pitchFamily="34" charset="0"/>
                <a:ea typeface="Calibri" pitchFamily="34" charset="-122"/>
                <a:cs typeface="Calibri" pitchFamily="34" charset="-120"/>
              </a:rPr>
              <a:t>18 used: 17 numeric mix variables</a:t>
            </a:r>
            <a:endParaRPr lang="en-US" sz="1050" dirty="0"/>
          </a:p>
          <a:p>
            <a:pPr indent="0" marL="0">
              <a:buNone/>
            </a:pPr>
            <a:r>
              <a:rPr lang="en-US" sz="1050" dirty="0">
                <a:solidFill>
                  <a:srgbClr val="222222"/>
                </a:solidFill>
                <a:latin typeface="Calibri" pitchFamily="34" charset="0"/>
                <a:ea typeface="Calibri" pitchFamily="34" charset="-122"/>
                <a:cs typeface="Calibri" pitchFamily="34" charset="-120"/>
              </a:rPr>
              <a:t>+ specimen type (cube / cylinder)</a:t>
            </a:r>
            <a:endParaRPr lang="en-US" sz="1050" dirty="0"/>
          </a:p>
        </p:txBody>
      </p:sp>
      <p:sp>
        <p:nvSpPr>
          <p:cNvPr id="10" name="Shape 8"/>
          <p:cNvSpPr/>
          <p:nvPr/>
        </p:nvSpPr>
        <p:spPr>
          <a:xfrm>
            <a:off x="6126480" y="1463040"/>
            <a:ext cx="2651760" cy="960120"/>
          </a:xfrm>
          <a:prstGeom prst="roundRect">
            <a:avLst>
              <a:gd name="adj" fmla="val 7619"/>
            </a:avLst>
          </a:prstGeom>
          <a:solidFill>
            <a:srgbClr val="EEF2F6"/>
          </a:solidFill>
          <a:ln w="12700">
            <a:solidFill>
              <a:srgbClr val="EEF2F6"/>
            </a:solidFill>
            <a:prstDash val="solid"/>
          </a:ln>
        </p:spPr>
      </p:sp>
      <p:sp>
        <p:nvSpPr>
          <p:cNvPr id="11" name="Text 9"/>
          <p:cNvSpPr txBox="1"/>
          <p:nvPr/>
        </p:nvSpPr>
        <p:spPr>
          <a:xfrm>
            <a:off x="6263640" y="1508760"/>
            <a:ext cx="2377440" cy="274320"/>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Splits</a:t>
            </a:r>
            <a:endParaRPr lang="en-US" sz="1300" dirty="0"/>
          </a:p>
        </p:txBody>
      </p:sp>
      <p:sp>
        <p:nvSpPr>
          <p:cNvPr id="12" name="Text 10"/>
          <p:cNvSpPr txBox="1"/>
          <p:nvPr/>
        </p:nvSpPr>
        <p:spPr>
          <a:xfrm>
            <a:off x="6263640" y="1783080"/>
            <a:ext cx="2423160" cy="621792"/>
          </a:xfrm>
          <a:prstGeom prst="rect">
            <a:avLst/>
          </a:prstGeom>
          <a:noFill/>
          <a:ln/>
        </p:spPr>
        <p:txBody>
          <a:bodyPr wrap="square" lIns="0" tIns="0" rIns="0" bIns="0" rtlCol="0" anchor="t"/>
          <a:lstStyle/>
          <a:p>
            <a:pPr indent="0" marL="0">
              <a:buNone/>
            </a:pPr>
            <a:r>
              <a:rPr lang="en-US" sz="1050" dirty="0">
                <a:solidFill>
                  <a:srgbClr val="222222"/>
                </a:solidFill>
                <a:latin typeface="Calibri" pitchFamily="34" charset="0"/>
                <a:ea typeface="Calibri" pitchFamily="34" charset="-122"/>
                <a:cs typeface="Calibri" pitchFamily="34" charset="-120"/>
              </a:rPr>
              <a:t>5-fold random, and 5-fold holding out</a:t>
            </a:r>
            <a:endParaRPr lang="en-US" sz="1050" dirty="0"/>
          </a:p>
          <a:p>
            <a:pPr indent="0" marL="0">
              <a:buNone/>
            </a:pPr>
            <a:r>
              <a:rPr lang="en-US" sz="1050" dirty="0">
                <a:solidFill>
                  <a:srgbClr val="222222"/>
                </a:solidFill>
                <a:latin typeface="Calibri" pitchFamily="34" charset="0"/>
                <a:ea typeface="Calibri" pitchFamily="34" charset="-122"/>
                <a:cs typeface="Calibri" pitchFamily="34" charset="-120"/>
              </a:rPr>
              <a:t>whole study blocks (less leaky), seed 42</a:t>
            </a:r>
            <a:endParaRPr lang="en-US" sz="1050" dirty="0"/>
          </a:p>
        </p:txBody>
      </p:sp>
      <p:sp>
        <p:nvSpPr>
          <p:cNvPr id="13" name="Shape 11"/>
          <p:cNvSpPr/>
          <p:nvPr/>
        </p:nvSpPr>
        <p:spPr>
          <a:xfrm>
            <a:off x="8915400" y="1463040"/>
            <a:ext cx="2651760" cy="960120"/>
          </a:xfrm>
          <a:prstGeom prst="roundRect">
            <a:avLst>
              <a:gd name="adj" fmla="val 7619"/>
            </a:avLst>
          </a:prstGeom>
          <a:solidFill>
            <a:srgbClr val="EEF2F6"/>
          </a:solidFill>
          <a:ln w="12700">
            <a:solidFill>
              <a:srgbClr val="EEF2F6"/>
            </a:solidFill>
            <a:prstDash val="solid"/>
          </a:ln>
        </p:spPr>
      </p:sp>
      <p:sp>
        <p:nvSpPr>
          <p:cNvPr id="14" name="Text 12"/>
          <p:cNvSpPr txBox="1"/>
          <p:nvPr/>
        </p:nvSpPr>
        <p:spPr>
          <a:xfrm>
            <a:off x="9052560" y="1508760"/>
            <a:ext cx="2377440" cy="274320"/>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Balance</a:t>
            </a:r>
            <a:endParaRPr lang="en-US" sz="1300" dirty="0"/>
          </a:p>
        </p:txBody>
      </p:sp>
      <p:sp>
        <p:nvSpPr>
          <p:cNvPr id="15" name="Text 13"/>
          <p:cNvSpPr txBox="1"/>
          <p:nvPr/>
        </p:nvSpPr>
        <p:spPr>
          <a:xfrm>
            <a:off x="9052560" y="1783080"/>
            <a:ext cx="2423160" cy="621792"/>
          </a:xfrm>
          <a:prstGeom prst="rect">
            <a:avLst/>
          </a:prstGeom>
          <a:noFill/>
          <a:ln/>
        </p:spPr>
        <p:txBody>
          <a:bodyPr wrap="square" lIns="0" tIns="0" rIns="0" bIns="0" rtlCol="0" anchor="t"/>
          <a:lstStyle/>
          <a:p>
            <a:pPr indent="0" marL="0">
              <a:buNone/>
            </a:pPr>
            <a:r>
              <a:rPr lang="en-US" sz="1050" dirty="0">
                <a:solidFill>
                  <a:srgbClr val="222222"/>
                </a:solidFill>
                <a:latin typeface="Calibri" pitchFamily="34" charset="0"/>
                <a:ea typeface="Calibri" pitchFamily="34" charset="-122"/>
                <a:cs typeface="Calibri" pitchFamily="34" charset="-120"/>
              </a:rPr>
              <a:t>Regression, no classes. Strength 1–87 MPa,</a:t>
            </a:r>
            <a:endParaRPr lang="en-US" sz="1050" dirty="0"/>
          </a:p>
          <a:p>
            <a:pPr indent="0" marL="0">
              <a:buNone/>
            </a:pPr>
            <a:r>
              <a:rPr lang="en-US" sz="1050" dirty="0">
                <a:solidFill>
                  <a:srgbClr val="222222"/>
                </a:solidFill>
                <a:latin typeface="Calibri" pitchFamily="34" charset="0"/>
                <a:ea typeface="Calibri" pitchFamily="34" charset="-122"/>
                <a:cs typeface="Calibri" pitchFamily="34" charset="-120"/>
              </a:rPr>
              <a:t>mean 36.5; cubes 683 / cylinders 439</a:t>
            </a:r>
            <a:endParaRPr lang="en-US" sz="1050" dirty="0"/>
          </a:p>
        </p:txBody>
      </p:sp>
      <p:sp>
        <p:nvSpPr>
          <p:cNvPr id="16" name="Text 14"/>
          <p:cNvSpPr txBox="1"/>
          <p:nvPr/>
        </p:nvSpPr>
        <p:spPr>
          <a:xfrm>
            <a:off x="548640" y="2606040"/>
            <a:ext cx="6400800" cy="32004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Problems found, and what was done</a:t>
            </a:r>
            <a:endParaRPr lang="en-US" sz="1500" dirty="0"/>
          </a:p>
        </p:txBody>
      </p:sp>
      <p:sp>
        <p:nvSpPr>
          <p:cNvPr id="17" name="Text 15"/>
          <p:cNvSpPr txBox="1"/>
          <p:nvPr/>
        </p:nvSpPr>
        <p:spPr>
          <a:xfrm>
            <a:off x="548640" y="2971800"/>
            <a:ext cx="6400800" cy="32918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Block-sparse columns (no merged cells): the reference and specimen size are written on the first row of each study block only (1,053 blank reference cells) → forward-filled. Two stray unnamed columns ignored.</a:t>
            </a:r>
            <a:endParaRPr lang="en-US" sz="1200" dirty="0"/>
          </a:p>
          <a:p>
            <a:pPr marL="342900" indent="-342900">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Missing values: NaOH solids and water-in-NaOH missing for 79 % of rows → dropped; molarity 22 % and MgO 15 % missing → median-imputed inside each training fold.</a:t>
            </a:r>
            <a:endParaRPr lang="en-US" sz="1200" dirty="0"/>
          </a:p>
          <a:p>
            <a:pPr marL="342900" indent="-342900">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Duplicates: 14 exact duplicate rows removed.</a:t>
            </a:r>
            <a:endParaRPr lang="en-US" sz="1200" dirty="0"/>
          </a:p>
          <a:p>
            <a:pPr marL="342900" indent="-342900">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Mixed specimens: cube and cylinder strengths in one column → specimen type kept as a feature instead of applying the authors' fixed factors (cylinder × 1.18 below 50 MPa, × 1.04 above).</a:t>
            </a:r>
            <a:endParaRPr lang="en-US" sz="1200" dirty="0"/>
          </a:p>
          <a:p>
            <a:pPr marL="342900" indent="-342900">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Derived columns dropped: the authors' ratios (Na/Al, Si/Al, normalised curing) repeat kept columns, except that for 239 of the 247 rows with missing molarity the NaOH-solids columns could have supplied it; I imputed instead (limitation).</a:t>
            </a:r>
            <a:endParaRPr lang="en-US" sz="1200" dirty="0"/>
          </a:p>
          <a:p>
            <a:pPr marL="342900" indent="-342900">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Leakage: one block supplies 113 rows (10 %); rows from one laboratory share materials and procedures, so a random split leaks the laboratory into the test set. The by-study split holds out blocks, not laboratories: 15 % of held-out rows (39 % in the worst fold) still share their fly-ash fingerprint with a training row, so it removes most, not all, of the leakage.</a:t>
            </a:r>
            <a:endParaRPr lang="en-US" sz="1200" dirty="0"/>
          </a:p>
        </p:txBody>
      </p:sp>
      <p:pic>
        <p:nvPicPr>
          <p:cNvPr id="18" name="Image 0" descr="/home/claude/jiang/figures/F1_data.png">    </p:cNvPr>
          <p:cNvPicPr>
            <a:picLocks noChangeAspect="1"/>
          </p:cNvPicPr>
          <p:nvPr/>
        </p:nvPicPr>
        <p:blipFill>
          <a:blip r:embed="rId1"/>
          <a:stretch>
            <a:fillRect/>
          </a:stretch>
        </p:blipFill>
        <p:spPr>
          <a:xfrm>
            <a:off x="7223760" y="2606040"/>
            <a:ext cx="4389120" cy="1554480"/>
          </a:xfrm>
          <a:prstGeom prst="rect">
            <a:avLst/>
          </a:prstGeom>
        </p:spPr>
      </p:pic>
      <p:sp>
        <p:nvSpPr>
          <p:cNvPr id="19" name="Text 16"/>
          <p:cNvSpPr txBox="1"/>
          <p:nvPr/>
        </p:nvSpPr>
        <p:spPr>
          <a:xfrm>
            <a:off x="7223760" y="4206240"/>
            <a:ext cx="4389120" cy="457200"/>
          </a:xfrm>
          <a:prstGeom prst="rect">
            <a:avLst/>
          </a:prstGeom>
          <a:noFill/>
          <a:ln/>
        </p:spPr>
        <p:txBody>
          <a:bodyPr wrap="square" lIns="0" tIns="0" rIns="0" bIns="0" rtlCol="0" anchor="ctr"/>
          <a:lstStyle/>
          <a:p>
            <a:pPr indent="0" marL="0">
              <a:buNone/>
            </a:pPr>
            <a:r>
              <a:rPr lang="en-US" sz="1050" dirty="0">
                <a:solidFill>
                  <a:srgbClr val="666666"/>
                </a:solidFill>
                <a:latin typeface="Calibri" pitchFamily="34" charset="0"/>
                <a:ea typeface="Calibri" pitchFamily="34" charset="-122"/>
                <a:cs typeface="Calibri" pitchFamily="34" charset="-120"/>
              </a:rPr>
              <a:t>Strength distribution (left) and mixes per study (right): a long tail of small studies and one dominant source.</a:t>
            </a:r>
            <a:endParaRPr lang="en-US" sz="1050" dirty="0"/>
          </a:p>
        </p:txBody>
      </p:sp>
      <p:sp>
        <p:nvSpPr>
          <p:cNvPr id="20" name="Shape 17"/>
          <p:cNvSpPr/>
          <p:nvPr/>
        </p:nvSpPr>
        <p:spPr>
          <a:xfrm>
            <a:off x="7223760" y="4754880"/>
            <a:ext cx="4389120" cy="1508760"/>
          </a:xfrm>
          <a:prstGeom prst="roundRect">
            <a:avLst>
              <a:gd name="adj" fmla="val 4848"/>
            </a:avLst>
          </a:prstGeom>
          <a:solidFill>
            <a:srgbClr val="EEF2F6"/>
          </a:solidFill>
          <a:ln w="12700">
            <a:solidFill>
              <a:srgbClr val="EEF2F6"/>
            </a:solidFill>
            <a:prstDash val="solid"/>
          </a:ln>
        </p:spPr>
      </p:sp>
      <p:sp>
        <p:nvSpPr>
          <p:cNvPr id="21" name="Text 18"/>
          <p:cNvSpPr txBox="1"/>
          <p:nvPr/>
        </p:nvSpPr>
        <p:spPr>
          <a:xfrm>
            <a:off x="7360920" y="4846320"/>
            <a:ext cx="4114800" cy="1371600"/>
          </a:xfrm>
          <a:prstGeom prst="rect">
            <a:avLst/>
          </a:prstGeom>
          <a:noFill/>
          <a:ln/>
        </p:spPr>
        <p:txBody>
          <a:bodyPr wrap="square" lIns="0" tIns="0" rIns="0" bIns="0" rtlCol="0" anchor="t"/>
          <a:lstStyle/>
          <a:p>
            <a:pPr indent="0" marL="0">
              <a:buNone/>
            </a:pPr>
            <a:r>
              <a:rPr lang="en-US" sz="1250" b="1" dirty="0">
                <a:solidFill>
                  <a:srgbClr val="1B2A4A"/>
                </a:solidFill>
                <a:latin typeface="Calibri" pitchFamily="34" charset="0"/>
                <a:ea typeface="Calibri" pitchFamily="34" charset="-122"/>
                <a:cs typeface="Calibri" pitchFamily="34" charset="-120"/>
              </a:rPr>
              <a:t>Why the by-study split matters</a:t>
            </a:r>
            <a:endParaRPr lang="en-US" sz="1250" dirty="0"/>
          </a:p>
          <a:p>
            <a:pPr indent="0" marL="0">
              <a:buNone/>
            </a:pPr>
            <a:r>
              <a:rPr lang="en-US" sz="1050" dirty="0">
                <a:solidFill>
                  <a:srgbClr val="222222"/>
                </a:solidFill>
                <a:latin typeface="Calibri" pitchFamily="34" charset="0"/>
                <a:ea typeface="Calibri" pitchFamily="34" charset="-122"/>
                <a:cs typeface="Calibri" pitchFamily="34" charset="-120"/>
              </a:rPr>
              <a:t>A random split puts mixes from the same laboratory on both sides, so a model can score well by recognising the laboratory. Holding out whole study blocks asks what a real user asks: can it predict a mix from a source it has never seen? Not perfectly: some laboratories publish several papers, so part of the leakage survives.</a:t>
            </a:r>
            <a:endParaRPr lang="en-US" sz="1250" dirty="0"/>
          </a:p>
        </p:txBody>
      </p:sp>
      <p:sp>
        <p:nvSpPr>
          <p:cNvPr id="22" name="Text 19"/>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900" dirty="0">
                <a:solidFill>
                  <a:srgbClr val="666666"/>
                </a:solidFill>
                <a:latin typeface="Calibri" pitchFamily="34" charset="0"/>
                <a:ea typeface="Calibri" pitchFamily="34" charset="-122"/>
                <a:cs typeface="Calibri" pitchFamily="34" charset="-120"/>
              </a:rPr>
              <a:t>CSBP 711 · Assignment 1 · Hakem Alkhraisha · 2/5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Four algorithms, one baseline, one pipeline, one seed</a:t>
            </a:r>
            <a:endParaRPr lang="en-US" sz="30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indent="0" marL="0">
              <a:buNone/>
            </a:pPr>
            <a:r>
              <a:rPr lang="en-US" sz="1400" dirty="0">
                <a:solidFill>
                  <a:srgbClr val="666666"/>
                </a:solidFill>
                <a:latin typeface="Calibri" pitchFamily="34" charset="0"/>
                <a:ea typeface="Calibri" pitchFamily="34" charset="-122"/>
                <a:cs typeface="Calibri" pitchFamily="34" charset="-120"/>
              </a:rPr>
              <a:t>Hyperparameters set in advance and never tuned on either split (no timestamped record exists; stated, not proven)</a:t>
            </a:r>
            <a:endParaRPr lang="en-US" sz="1400" dirty="0"/>
          </a:p>
        </p:txBody>
      </p:sp>
      <p:sp>
        <p:nvSpPr>
          <p:cNvPr id="4" name="Shape 2"/>
          <p:cNvSpPr/>
          <p:nvPr/>
        </p:nvSpPr>
        <p:spPr>
          <a:xfrm>
            <a:off x="548640" y="1554480"/>
            <a:ext cx="2651760" cy="2331720"/>
          </a:xfrm>
          <a:prstGeom prst="roundRect">
            <a:avLst>
              <a:gd name="adj" fmla="val 4706"/>
            </a:avLst>
          </a:prstGeom>
          <a:solidFill>
            <a:srgbClr val="1B2A4A"/>
          </a:solidFill>
          <a:ln w="12700">
            <a:solidFill>
              <a:srgbClr val="1B2A4A"/>
            </a:solidFill>
            <a:prstDash val="solid"/>
          </a:ln>
        </p:spPr>
      </p:sp>
      <p:sp>
        <p:nvSpPr>
          <p:cNvPr id="5" name="Text 3"/>
          <p:cNvSpPr txBox="1"/>
          <p:nvPr/>
        </p:nvSpPr>
        <p:spPr>
          <a:xfrm>
            <a:off x="731520" y="1691640"/>
            <a:ext cx="228600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Ridge regression</a:t>
            </a:r>
            <a:endParaRPr lang="en-US" sz="1700" dirty="0"/>
          </a:p>
        </p:txBody>
      </p:sp>
      <p:sp>
        <p:nvSpPr>
          <p:cNvPr id="6" name="Text 4"/>
          <p:cNvSpPr txBox="1"/>
          <p:nvPr/>
        </p:nvSpPr>
        <p:spPr>
          <a:xfrm>
            <a:off x="731520" y="2103120"/>
            <a:ext cx="2286000" cy="292608"/>
          </a:xfrm>
          <a:prstGeom prst="rect">
            <a:avLst/>
          </a:prstGeom>
          <a:noFill/>
          <a:ln/>
        </p:spPr>
        <p:txBody>
          <a:bodyPr wrap="square" lIns="0" tIns="0" rIns="0" bIns="0" rtlCol="0" anchor="ctr"/>
          <a:lstStyle/>
          <a:p>
            <a:pPr indent="0" marL="0">
              <a:buNone/>
            </a:pPr>
            <a:r>
              <a:rPr lang="en-US" sz="1200" i="1" dirty="0">
                <a:solidFill>
                  <a:srgbClr val="9BB7CF"/>
                </a:solidFill>
                <a:latin typeface="Calibri" pitchFamily="34" charset="0"/>
                <a:ea typeface="Calibri" pitchFamily="34" charset="-122"/>
                <a:cs typeface="Calibri" pitchFamily="34" charset="-120"/>
              </a:rPr>
              <a:t>Simple baseline</a:t>
            </a:r>
            <a:endParaRPr lang="en-US" sz="1200" dirty="0"/>
          </a:p>
        </p:txBody>
      </p:sp>
      <p:sp>
        <p:nvSpPr>
          <p:cNvPr id="7" name="Text 5"/>
          <p:cNvSpPr txBox="1"/>
          <p:nvPr/>
        </p:nvSpPr>
        <p:spPr>
          <a:xfrm>
            <a:off x="731520" y="2468880"/>
            <a:ext cx="2286000" cy="13258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Linear, no interactions, cannot bend.</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α = 1.0. Deterministic (no seed needed).</a:t>
            </a:r>
            <a:endParaRPr lang="en-US" sz="1200" dirty="0"/>
          </a:p>
        </p:txBody>
      </p:sp>
      <p:sp>
        <p:nvSpPr>
          <p:cNvPr id="8" name="Shape 6"/>
          <p:cNvSpPr/>
          <p:nvPr/>
        </p:nvSpPr>
        <p:spPr>
          <a:xfrm>
            <a:off x="3383280" y="1554480"/>
            <a:ext cx="2651760" cy="2331720"/>
          </a:xfrm>
          <a:prstGeom prst="roundRect">
            <a:avLst>
              <a:gd name="adj" fmla="val 4706"/>
            </a:avLst>
          </a:prstGeom>
          <a:solidFill>
            <a:srgbClr val="EEF2F6"/>
          </a:solidFill>
          <a:ln w="12700">
            <a:solidFill>
              <a:srgbClr val="EEF2F6"/>
            </a:solidFill>
            <a:prstDash val="solid"/>
          </a:ln>
        </p:spPr>
      </p:sp>
      <p:sp>
        <p:nvSpPr>
          <p:cNvPr id="9" name="Text 7"/>
          <p:cNvSpPr txBox="1"/>
          <p:nvPr/>
        </p:nvSpPr>
        <p:spPr>
          <a:xfrm>
            <a:off x="3566160" y="1691640"/>
            <a:ext cx="2286000" cy="41148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Random forest</a:t>
            </a:r>
            <a:endParaRPr lang="en-US" sz="1700" dirty="0"/>
          </a:p>
        </p:txBody>
      </p:sp>
      <p:sp>
        <p:nvSpPr>
          <p:cNvPr id="10" name="Text 8"/>
          <p:cNvSpPr txBox="1"/>
          <p:nvPr/>
        </p:nvSpPr>
        <p:spPr>
          <a:xfrm>
            <a:off x="3566160" y="2103120"/>
            <a:ext cx="2286000" cy="292608"/>
          </a:xfrm>
          <a:prstGeom prst="rect">
            <a:avLst/>
          </a:prstGeom>
          <a:noFill/>
          <a:ln/>
        </p:spPr>
        <p:txBody>
          <a:bodyPr wrap="square" lIns="0" tIns="0" rIns="0" bIns="0" rtlCol="0" anchor="ctr"/>
          <a:lstStyle/>
          <a:p>
            <a:pPr indent="0" marL="0">
              <a:buNone/>
            </a:pPr>
            <a:r>
              <a:rPr lang="en-US" sz="1200" i="1" dirty="0">
                <a:solidFill>
                  <a:srgbClr val="3B6E8F"/>
                </a:solidFill>
                <a:latin typeface="Calibri" pitchFamily="34" charset="0"/>
                <a:ea typeface="Calibri" pitchFamily="34" charset="-122"/>
                <a:cs typeface="Calibri" pitchFamily="34" charset="-120"/>
              </a:rPr>
              <a:t>Tree ensemble</a:t>
            </a:r>
            <a:endParaRPr lang="en-US" sz="1200" dirty="0"/>
          </a:p>
        </p:txBody>
      </p:sp>
      <p:sp>
        <p:nvSpPr>
          <p:cNvPr id="11" name="Text 9"/>
          <p:cNvSpPr txBox="1"/>
          <p:nvPr/>
        </p:nvSpPr>
        <p:spPr>
          <a:xfrm>
            <a:off x="3566160" y="2468880"/>
            <a:ext cx="2286000" cy="132588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500 trees, min 2 samples per leaf, averaged.</a:t>
            </a:r>
            <a:endParaRPr lang="en-US" sz="1200" dirty="0"/>
          </a:p>
          <a:p>
            <a:pPr indent="0" marL="0">
              <a:buNone/>
            </a:pPr>
            <a:r>
              <a:rPr lang="en-US" sz="1200" dirty="0">
                <a:solidFill>
                  <a:srgbClr val="222222"/>
                </a:solidFill>
                <a:latin typeface="Calibri" pitchFamily="34" charset="0"/>
                <a:ea typeface="Calibri" pitchFamily="34" charset="-122"/>
                <a:cs typeface="Calibri" pitchFamily="34" charset="-120"/>
              </a:rPr>
              <a:t>random_state = 42.</a:t>
            </a:r>
            <a:endParaRPr lang="en-US" sz="1200" dirty="0"/>
          </a:p>
        </p:txBody>
      </p:sp>
      <p:sp>
        <p:nvSpPr>
          <p:cNvPr id="12" name="Shape 10"/>
          <p:cNvSpPr/>
          <p:nvPr/>
        </p:nvSpPr>
        <p:spPr>
          <a:xfrm>
            <a:off x="6217920" y="1554480"/>
            <a:ext cx="2651760" cy="2331720"/>
          </a:xfrm>
          <a:prstGeom prst="roundRect">
            <a:avLst>
              <a:gd name="adj" fmla="val 4706"/>
            </a:avLst>
          </a:prstGeom>
          <a:solidFill>
            <a:srgbClr val="EEF2F6"/>
          </a:solidFill>
          <a:ln w="12700">
            <a:solidFill>
              <a:srgbClr val="EEF2F6"/>
            </a:solidFill>
            <a:prstDash val="solid"/>
          </a:ln>
        </p:spPr>
      </p:sp>
      <p:sp>
        <p:nvSpPr>
          <p:cNvPr id="13" name="Text 11"/>
          <p:cNvSpPr txBox="1"/>
          <p:nvPr/>
        </p:nvSpPr>
        <p:spPr>
          <a:xfrm>
            <a:off x="6400800" y="1691640"/>
            <a:ext cx="2286000" cy="41148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XGBoost</a:t>
            </a:r>
            <a:endParaRPr lang="en-US" sz="1700" dirty="0"/>
          </a:p>
        </p:txBody>
      </p:sp>
      <p:sp>
        <p:nvSpPr>
          <p:cNvPr id="14" name="Text 12"/>
          <p:cNvSpPr txBox="1"/>
          <p:nvPr/>
        </p:nvSpPr>
        <p:spPr>
          <a:xfrm>
            <a:off x="6400800" y="2103120"/>
            <a:ext cx="2286000" cy="292608"/>
          </a:xfrm>
          <a:prstGeom prst="rect">
            <a:avLst/>
          </a:prstGeom>
          <a:noFill/>
          <a:ln/>
        </p:spPr>
        <p:txBody>
          <a:bodyPr wrap="square" lIns="0" tIns="0" rIns="0" bIns="0" rtlCol="0" anchor="ctr"/>
          <a:lstStyle/>
          <a:p>
            <a:pPr indent="0" marL="0">
              <a:buNone/>
            </a:pPr>
            <a:r>
              <a:rPr lang="en-US" sz="1200" i="1" dirty="0">
                <a:solidFill>
                  <a:srgbClr val="3B6E8F"/>
                </a:solidFill>
                <a:latin typeface="Calibri" pitchFamily="34" charset="0"/>
                <a:ea typeface="Calibri" pitchFamily="34" charset="-122"/>
                <a:cs typeface="Calibri" pitchFamily="34" charset="-120"/>
              </a:rPr>
              <a:t>Boosted trees</a:t>
            </a:r>
            <a:endParaRPr lang="en-US" sz="1200" dirty="0"/>
          </a:p>
        </p:txBody>
      </p:sp>
      <p:sp>
        <p:nvSpPr>
          <p:cNvPr id="15" name="Text 13"/>
          <p:cNvSpPr txBox="1"/>
          <p:nvPr/>
        </p:nvSpPr>
        <p:spPr>
          <a:xfrm>
            <a:off x="6400800" y="2468880"/>
            <a:ext cx="2286000" cy="132588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800 trees, depth 4, learning rate 0.04, subsample 0.9.</a:t>
            </a:r>
            <a:endParaRPr lang="en-US" sz="1200" dirty="0"/>
          </a:p>
          <a:p>
            <a:pPr indent="0" marL="0">
              <a:buNone/>
            </a:pPr>
            <a:r>
              <a:rPr lang="en-US" sz="1200" dirty="0">
                <a:solidFill>
                  <a:srgbClr val="222222"/>
                </a:solidFill>
                <a:latin typeface="Calibri" pitchFamily="34" charset="0"/>
                <a:ea typeface="Calibri" pitchFamily="34" charset="-122"/>
                <a:cs typeface="Calibri" pitchFamily="34" charset="-120"/>
              </a:rPr>
              <a:t>random_state = 42.</a:t>
            </a:r>
            <a:endParaRPr lang="en-US" sz="1200" dirty="0"/>
          </a:p>
        </p:txBody>
      </p:sp>
      <p:sp>
        <p:nvSpPr>
          <p:cNvPr id="16" name="Shape 14"/>
          <p:cNvSpPr/>
          <p:nvPr/>
        </p:nvSpPr>
        <p:spPr>
          <a:xfrm>
            <a:off x="9052560" y="1554480"/>
            <a:ext cx="2651760" cy="2331720"/>
          </a:xfrm>
          <a:prstGeom prst="roundRect">
            <a:avLst>
              <a:gd name="adj" fmla="val 4706"/>
            </a:avLst>
          </a:prstGeom>
          <a:solidFill>
            <a:srgbClr val="EEF2F6"/>
          </a:solidFill>
          <a:ln w="12700">
            <a:solidFill>
              <a:srgbClr val="EEF2F6"/>
            </a:solidFill>
            <a:prstDash val="solid"/>
          </a:ln>
        </p:spPr>
      </p:sp>
      <p:sp>
        <p:nvSpPr>
          <p:cNvPr id="17" name="Text 15"/>
          <p:cNvSpPr txBox="1"/>
          <p:nvPr/>
        </p:nvSpPr>
        <p:spPr>
          <a:xfrm>
            <a:off x="9235440" y="1691640"/>
            <a:ext cx="2286000" cy="41148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MLP</a:t>
            </a:r>
            <a:endParaRPr lang="en-US" sz="1700" dirty="0"/>
          </a:p>
        </p:txBody>
      </p:sp>
      <p:sp>
        <p:nvSpPr>
          <p:cNvPr id="18" name="Text 16"/>
          <p:cNvSpPr txBox="1"/>
          <p:nvPr/>
        </p:nvSpPr>
        <p:spPr>
          <a:xfrm>
            <a:off x="9235440" y="2103120"/>
            <a:ext cx="2286000" cy="292608"/>
          </a:xfrm>
          <a:prstGeom prst="rect">
            <a:avLst/>
          </a:prstGeom>
          <a:noFill/>
          <a:ln/>
        </p:spPr>
        <p:txBody>
          <a:bodyPr wrap="square" lIns="0" tIns="0" rIns="0" bIns="0" rtlCol="0" anchor="ctr"/>
          <a:lstStyle/>
          <a:p>
            <a:pPr indent="0" marL="0">
              <a:buNone/>
            </a:pPr>
            <a:r>
              <a:rPr lang="en-US" sz="1200" i="1" dirty="0">
                <a:solidFill>
                  <a:srgbClr val="3B6E8F"/>
                </a:solidFill>
                <a:latin typeface="Calibri" pitchFamily="34" charset="0"/>
                <a:ea typeface="Calibri" pitchFamily="34" charset="-122"/>
                <a:cs typeface="Calibri" pitchFamily="34" charset="-120"/>
              </a:rPr>
              <a:t>Neural network</a:t>
            </a:r>
            <a:endParaRPr lang="en-US" sz="1200" dirty="0"/>
          </a:p>
        </p:txBody>
      </p:sp>
      <p:sp>
        <p:nvSpPr>
          <p:cNvPr id="19" name="Text 17"/>
          <p:cNvSpPr txBox="1"/>
          <p:nvPr/>
        </p:nvSpPr>
        <p:spPr>
          <a:xfrm>
            <a:off x="9235440" y="2468880"/>
            <a:ext cx="2286000" cy="132588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Two hidden layers (64, 32), ≤ 4,000 iterations, scikit-learn defaults, no early stopping.</a:t>
            </a:r>
            <a:endParaRPr lang="en-US" sz="1200" dirty="0"/>
          </a:p>
          <a:p>
            <a:pPr indent="0" marL="0">
              <a:buNone/>
            </a:pPr>
            <a:r>
              <a:rPr lang="en-US" sz="1200" dirty="0">
                <a:solidFill>
                  <a:srgbClr val="222222"/>
                </a:solidFill>
                <a:latin typeface="Calibri" pitchFamily="34" charset="0"/>
                <a:ea typeface="Calibri" pitchFamily="34" charset="-122"/>
                <a:cs typeface="Calibri" pitchFamily="34" charset="-120"/>
              </a:rPr>
              <a:t>random_state = 42.</a:t>
            </a:r>
            <a:endParaRPr lang="en-US" sz="1200" dirty="0"/>
          </a:p>
        </p:txBody>
      </p:sp>
      <p:sp>
        <p:nvSpPr>
          <p:cNvPr id="20" name="Shape 18"/>
          <p:cNvSpPr/>
          <p:nvPr/>
        </p:nvSpPr>
        <p:spPr>
          <a:xfrm>
            <a:off x="548640" y="4160520"/>
            <a:ext cx="5486400" cy="2057400"/>
          </a:xfrm>
          <a:prstGeom prst="roundRect">
            <a:avLst>
              <a:gd name="adj" fmla="val 4444"/>
            </a:avLst>
          </a:prstGeom>
          <a:solidFill>
            <a:srgbClr val="EEF2F6"/>
          </a:solidFill>
          <a:ln w="12700">
            <a:solidFill>
              <a:srgbClr val="EEF2F6"/>
            </a:solidFill>
            <a:prstDash val="solid"/>
          </a:ln>
        </p:spPr>
      </p:sp>
      <p:sp>
        <p:nvSpPr>
          <p:cNvPr id="21" name="Text 19"/>
          <p:cNvSpPr txBox="1"/>
          <p:nvPr/>
        </p:nvSpPr>
        <p:spPr>
          <a:xfrm>
            <a:off x="731520" y="4251960"/>
            <a:ext cx="5120640" cy="1920240"/>
          </a:xfrm>
          <a:prstGeom prst="rect">
            <a:avLst/>
          </a:prstGeom>
          <a:noFill/>
          <a:ln/>
        </p:spPr>
        <p:txBody>
          <a:bodyPr wrap="square" lIns="0" tIns="0" rIns="0" bIns="0" rtlCol="0" anchor="t"/>
          <a:lstStyle/>
          <a:p>
            <a:pPr indent="0" marL="0">
              <a:buNone/>
            </a:pPr>
            <a:r>
              <a:rPr lang="en-US" sz="1400" b="1" dirty="0">
                <a:solidFill>
                  <a:srgbClr val="1B2A4A"/>
                </a:solidFill>
                <a:latin typeface="Calibri" pitchFamily="34" charset="0"/>
                <a:ea typeface="Calibri" pitchFamily="34" charset="-122"/>
                <a:cs typeface="Calibri" pitchFamily="34" charset="-120"/>
              </a:rPr>
              <a:t>Identical for all four models</a:t>
            </a:r>
            <a:endParaRPr lang="en-US" sz="1400" dirty="0"/>
          </a:p>
          <a:p>
            <a:pPr indent="0" marL="0">
              <a:buNone/>
            </a:pPr>
            <a:r>
              <a:rPr lang="en-US" sz="1150" dirty="0">
                <a:solidFill>
                  <a:srgbClr val="222222"/>
                </a:solidFill>
                <a:latin typeface="Calibri" pitchFamily="34" charset="0"/>
                <a:ea typeface="Calibri" pitchFamily="34" charset="-122"/>
                <a:cs typeface="Calibri" pitchFamily="34" charset="-120"/>
              </a:rPr>
              <a:t>One scikit-learn Pipeline object: median imputation of numeric features → standardisation → one-hot encoding of specimen type → model. The imputer and scaler are fitted on the training fold only, inside every fold, so no test information leaks into preprocessing.</a:t>
            </a:r>
            <a:endParaRPr lang="en-US" sz="1400" dirty="0"/>
          </a:p>
          <a:p>
            <a:pPr indent="0" marL="0">
              <a:buNone/>
            </a:pPr>
            <a:r>
              <a:rPr lang="en-US" sz="5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150" dirty="0">
                <a:solidFill>
                  <a:srgbClr val="222222"/>
                </a:solidFill>
                <a:latin typeface="Calibri" pitchFamily="34" charset="0"/>
                <a:ea typeface="Calibri" pitchFamily="34" charset="-122"/>
                <a:cs typeface="Calibri" pitchFamily="34" charset="-120"/>
              </a:rPr>
              <a:t>Same folds, same seed: fold assignment uses seed 42 (random split) or the study grouping (by-study split); every model is trained and scored on exactly the same five folds. Models with randomness receive random_state = 42; ridge has none.</a:t>
            </a:r>
            <a:endParaRPr lang="en-US" sz="1400" dirty="0"/>
          </a:p>
        </p:txBody>
      </p:sp>
      <p:sp>
        <p:nvSpPr>
          <p:cNvPr id="22" name="Shape 20"/>
          <p:cNvSpPr/>
          <p:nvPr/>
        </p:nvSpPr>
        <p:spPr>
          <a:xfrm>
            <a:off x="6309360" y="4160520"/>
            <a:ext cx="5303520" cy="2057400"/>
          </a:xfrm>
          <a:prstGeom prst="roundRect">
            <a:avLst>
              <a:gd name="adj" fmla="val 4444"/>
            </a:avLst>
          </a:prstGeom>
          <a:solidFill>
            <a:srgbClr val="EEF2F6"/>
          </a:solidFill>
          <a:ln w="12700">
            <a:solidFill>
              <a:srgbClr val="EEF2F6"/>
            </a:solidFill>
            <a:prstDash val="solid"/>
          </a:ln>
        </p:spPr>
      </p:sp>
      <p:sp>
        <p:nvSpPr>
          <p:cNvPr id="23" name="Text 21"/>
          <p:cNvSpPr txBox="1"/>
          <p:nvPr/>
        </p:nvSpPr>
        <p:spPr>
          <a:xfrm>
            <a:off x="6492240" y="4251960"/>
            <a:ext cx="4937760" cy="1920240"/>
          </a:xfrm>
          <a:prstGeom prst="rect">
            <a:avLst/>
          </a:prstGeom>
          <a:noFill/>
          <a:ln/>
        </p:spPr>
        <p:txBody>
          <a:bodyPr wrap="square" lIns="0" tIns="0" rIns="0" bIns="0" rtlCol="0" anchor="t"/>
          <a:lstStyle/>
          <a:p>
            <a:pPr indent="0" marL="0">
              <a:buNone/>
            </a:pPr>
            <a:r>
              <a:rPr lang="en-US" sz="1400" b="1" dirty="0">
                <a:solidFill>
                  <a:srgbClr val="1B2A4A"/>
                </a:solidFill>
                <a:latin typeface="Calibri" pitchFamily="34" charset="0"/>
                <a:ea typeface="Calibri" pitchFamily="34" charset="-122"/>
                <a:cs typeface="Calibri" pitchFamily="34" charset="-120"/>
              </a:rPr>
              <a:t>What is reported for each model</a:t>
            </a:r>
            <a:endParaRPr lang="en-US" sz="1400" dirty="0"/>
          </a:p>
          <a:p>
            <a:pPr indent="0" marL="0">
              <a:buNone/>
            </a:pPr>
            <a:r>
              <a:rPr lang="en-US" sz="1150" dirty="0">
                <a:solidFill>
                  <a:srgbClr val="222222"/>
                </a:solidFill>
                <a:latin typeface="Calibri" pitchFamily="34" charset="0"/>
                <a:ea typeface="Calibri" pitchFamily="34" charset="-122"/>
                <a:cs typeface="Calibri" pitchFamily="34" charset="-120"/>
              </a:rPr>
              <a:t>Task metric: R² and MAE (MPa) on out-of-fold predictions, 5 folds, under both splits.</a:t>
            </a:r>
            <a:endParaRPr lang="en-US" sz="1400" dirty="0"/>
          </a:p>
          <a:p>
            <a:pPr indent="0" marL="0">
              <a:buNone/>
            </a:pPr>
            <a:r>
              <a:rPr lang="en-US" sz="1150" dirty="0">
                <a:solidFill>
                  <a:srgbClr val="222222"/>
                </a:solidFill>
                <a:latin typeface="Calibri" pitchFamily="34" charset="0"/>
                <a:ea typeface="Calibri" pitchFamily="34" charset="-122"/>
                <a:cs typeface="Calibri" pitchFamily="34" charset="-120"/>
              </a:rPr>
              <a:t>Training time: seconds to fit all five folds; forest and XGBoost on two cores, ridge and MLP on one.</a:t>
            </a:r>
            <a:endParaRPr lang="en-US" sz="1400" dirty="0"/>
          </a:p>
          <a:p>
            <a:pPr indent="0" marL="0">
              <a:buNone/>
            </a:pPr>
            <a:r>
              <a:rPr lang="en-US" sz="1150" dirty="0">
                <a:solidFill>
                  <a:srgbClr val="222222"/>
                </a:solidFill>
                <a:latin typeface="Calibri" pitchFamily="34" charset="0"/>
                <a:ea typeface="Calibri" pitchFamily="34" charset="-122"/>
                <a:cs typeface="Calibri" pitchFamily="34" charset="-120"/>
              </a:rPr>
              <a:t>Model size of the final fold's model: ridge = coefficients; forest and XGBoost = tree nodes; MLP = weights and biases.</a:t>
            </a:r>
            <a:endParaRPr lang="en-US" sz="1400" dirty="0"/>
          </a:p>
          <a:p>
            <a:pPr indent="0" marL="0">
              <a:buNone/>
            </a:pPr>
            <a:r>
              <a:rPr lang="en-US" sz="1150" dirty="0">
                <a:solidFill>
                  <a:srgbClr val="222222"/>
                </a:solidFill>
                <a:latin typeface="Calibri" pitchFamily="34" charset="0"/>
                <a:ea typeface="Calibri" pitchFamily="34" charset="-122"/>
                <a:cs typeface="Calibri" pitchFamily="34" charset="-120"/>
              </a:rPr>
              <a:t>All of it in results/comparison.csv, produced by one command.</a:t>
            </a:r>
            <a:endParaRPr lang="en-US" sz="1400" dirty="0"/>
          </a:p>
        </p:txBody>
      </p:sp>
      <p:sp>
        <p:nvSpPr>
          <p:cNvPr id="24" name="Text 22"/>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900" dirty="0">
                <a:solidFill>
                  <a:srgbClr val="666666"/>
                </a:solidFill>
                <a:latin typeface="Calibri" pitchFamily="34" charset="0"/>
                <a:ea typeface="Calibri" pitchFamily="34" charset="-122"/>
                <a:cs typeface="Calibri" pitchFamily="34" charset="-120"/>
              </a:rPr>
              <a:t>CSBP 711 · Assignment 1 · Hakem Alkhraisha · 3/5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Results: who wins depends on the split</a:t>
            </a:r>
            <a:endParaRPr lang="en-US" sz="30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indent="0" marL="0">
              <a:buNone/>
            </a:pPr>
            <a:r>
              <a:rPr lang="en-US" sz="1400" dirty="0">
                <a:solidFill>
                  <a:srgbClr val="666666"/>
                </a:solidFill>
                <a:latin typeface="Calibri" pitchFamily="34" charset="0"/>
                <a:ea typeface="Calibri" pitchFamily="34" charset="-122"/>
                <a:cs typeface="Calibri" pitchFamily="34" charset="-120"/>
              </a:rPr>
              <a:t>Same models, same preprocessing, same seed — only the split changes</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858000" cy="914400"/>
        </p:xfrm>
        <a:graphic>
          <a:graphicData uri="http://schemas.openxmlformats.org/drawingml/2006/table">
            <a:tbl>
              <a:tblPr/>
              <a:tblGrid>
                <a:gridCol w="1417320"/>
                <a:gridCol w="777240"/>
                <a:gridCol w="868680"/>
                <a:gridCol w="960120"/>
                <a:gridCol w="960120"/>
                <a:gridCol w="731520"/>
                <a:gridCol w="1143000"/>
              </a:tblGrid>
              <a:tr h="3657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R² random</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R² by study</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MAE random (MPa)</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MAE by study (MPa)</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Fit time (s)*</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Model size*</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1B2A4A"/>
                    </a:solidFill>
                  </a:tcPr>
                </a:tc>
              </a:tr>
              <a:tr h="365760">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Ridge (baseline)</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0.47</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0.05</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8.1</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10.7</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20 coeff.</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0.80</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0.05</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4.4</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11.1</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6.3</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231k nodes</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MLP (64, 32)</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0.80</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−0.86</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4.5</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14.0</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21.4</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3.4k weights</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222222"/>
                          </a:solidFill>
                          <a:latin typeface="Calibri" pitchFamily="34" charset="0"/>
                          <a:ea typeface="Calibri" pitchFamily="34" charset="-122"/>
                          <a:cs typeface="Calibri" pitchFamily="34" charset="-120"/>
                        </a:rPr>
                        <a:t>XGBoost</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222"/>
                          </a:solidFill>
                          <a:latin typeface="Calibri" pitchFamily="34" charset="0"/>
                          <a:ea typeface="Calibri" pitchFamily="34" charset="-122"/>
                          <a:cs typeface="Calibri" pitchFamily="34" charset="-120"/>
                        </a:rPr>
                        <a:t>0.85</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222"/>
                          </a:solidFill>
                          <a:latin typeface="Calibri" pitchFamily="34" charset="0"/>
                          <a:ea typeface="Calibri" pitchFamily="34" charset="-122"/>
                          <a:cs typeface="Calibri" pitchFamily="34" charset="-120"/>
                        </a:rPr>
                        <a:t>0.16</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222"/>
                          </a:solidFill>
                          <a:latin typeface="Calibri" pitchFamily="34" charset="0"/>
                          <a:ea typeface="Calibri" pitchFamily="34" charset="-122"/>
                          <a:cs typeface="Calibri" pitchFamily="34" charset="-120"/>
                        </a:rPr>
                        <a:t>3.7</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222"/>
                          </a:solidFill>
                          <a:latin typeface="Calibri" pitchFamily="34" charset="0"/>
                          <a:ea typeface="Calibri" pitchFamily="34" charset="-122"/>
                          <a:cs typeface="Calibri" pitchFamily="34" charset="-120"/>
                        </a:rPr>
                        <a:t>10.6</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3.7</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≈22k nodes</a:t>
                      </a:r>
                      <a:endParaRPr lang="en-US" sz="120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3611880"/>
            <a:ext cx="6858000" cy="548640"/>
          </a:xfrm>
          <a:prstGeom prst="rect">
            <a:avLst/>
          </a:prstGeom>
          <a:noFill/>
          <a:ln/>
        </p:spPr>
        <p:txBody>
          <a:bodyPr wrap="square" lIns="0" tIns="0" rIns="0" bIns="0" rtlCol="0" anchor="ctr"/>
          <a:lstStyle/>
          <a:p>
            <a:pPr indent="0" marL="0">
              <a:buNone/>
            </a:pPr>
            <a:r>
              <a:rPr lang="en-US" sz="950" dirty="0">
                <a:solidFill>
                  <a:srgbClr val="666666"/>
                </a:solidFill>
                <a:latin typeface="Calibri" pitchFamily="34" charset="0"/>
                <a:ea typeface="Calibri" pitchFamily="34" charset="-122"/>
                <a:cs typeface="Calibri" pitchFamily="34" charset="-120"/>
              </a:rPr>
              <a:t>* Time = seconds to fit all five folds on the random split, single run (forest and XGBoost on two cores, ridge and MLP on one; times vary by tens of percent between runs). Size = final fold's model: coefficients (ridge), tree nodes (forest, XGBoost), weights and biases (MLP). Seed 42; results/comparison.csv.</a:t>
            </a:r>
            <a:endParaRPr lang="en-US" sz="950" dirty="0"/>
          </a:p>
        </p:txBody>
      </p:sp>
      <p:pic>
        <p:nvPicPr>
          <p:cNvPr id="6" name="Image 0" descr="/home/claude/jiang/figures/F3_comparison.png">    </p:cNvPr>
          <p:cNvPicPr>
            <a:picLocks noChangeAspect="1"/>
          </p:cNvPicPr>
          <p:nvPr/>
        </p:nvPicPr>
        <p:blipFill>
          <a:blip r:embed="rId1"/>
          <a:stretch>
            <a:fillRect/>
          </a:stretch>
        </p:blipFill>
        <p:spPr>
          <a:xfrm>
            <a:off x="7680960" y="1554480"/>
            <a:ext cx="3931920" cy="2194560"/>
          </a:xfrm>
          <a:prstGeom prst="rect">
            <a:avLst/>
          </a:prstGeom>
        </p:spPr>
      </p:pic>
      <p:sp>
        <p:nvSpPr>
          <p:cNvPr id="7" name="Text 3"/>
          <p:cNvSpPr txBox="1"/>
          <p:nvPr/>
        </p:nvSpPr>
        <p:spPr>
          <a:xfrm>
            <a:off x="548640" y="4251960"/>
            <a:ext cx="6858000" cy="21031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22222"/>
                </a:solidFill>
                <a:latin typeface="Calibri" pitchFamily="34" charset="0"/>
                <a:ea typeface="Calibri" pitchFamily="34" charset="-122"/>
                <a:cs typeface="Calibri" pitchFamily="34" charset="-120"/>
              </a:rPr>
              <a:t>Random split: all three non-linear models beat the baseline by a wide margin; XGBoost is best, fastest of the three, and ten times smaller than the forest.</a:t>
            </a:r>
            <a:endParaRPr lang="en-US" sz="1250" dirty="0"/>
          </a:p>
          <a:p>
            <a:pPr marL="342900" indent="-342900">
              <a:spcAft>
                <a:spcPts val="600"/>
              </a:spcAft>
              <a:buSzPct val="100000"/>
              <a:buChar char="•"/>
            </a:pPr>
            <a:r>
              <a:rPr lang="en-US" sz="1250" dirty="0">
                <a:solidFill>
                  <a:srgbClr val="222222"/>
                </a:solidFill>
                <a:latin typeface="Calibri" pitchFamily="34" charset="0"/>
                <a:ea typeface="Calibri" pitchFamily="34" charset="-122"/>
                <a:cs typeface="Calibri" pitchFamily="34" charset="-120"/>
              </a:rPr>
              <a:t>By-study split: every model falls; the forest to the baseline's level on this fold draw, the MLP below predicting the mean. This draw is a pessimistic one: over eight re-drawn fold assignments (results/ablation_folds.csv) XGBoost scores 0.29 ± 0.06, forest 0.13 ± 0.06, ridge 0.05 ± 0.10, MLP −0.60 ± 0.30 — XGBoost first and MLP last in every draw, forest above ridge in six of eight. Even at 0.29, nobody predicts a new source well.</a:t>
            </a:r>
            <a:endParaRPr lang="en-US" sz="1250" dirty="0"/>
          </a:p>
          <a:p>
            <a:pPr marL="342900" indent="-342900">
              <a:spcAft>
                <a:spcPts val="600"/>
              </a:spcAft>
              <a:buSzPct val="100000"/>
              <a:buChar char="•"/>
            </a:pPr>
            <a:r>
              <a:rPr lang="en-US" sz="1250" dirty="0">
                <a:solidFill>
                  <a:srgbClr val="222222"/>
                </a:solidFill>
                <a:latin typeface="Calibri" pitchFamily="34" charset="0"/>
                <a:ea typeface="Calibri" pitchFamily="34" charset="-122"/>
                <a:cs typeface="Calibri" pitchFamily="34" charset="-120"/>
              </a:rPr>
              <a:t>The gap between the two columns is the result, not a nuisance: it is the size of the leakage.</a:t>
            </a:r>
            <a:endParaRPr lang="en-US" sz="1250" dirty="0"/>
          </a:p>
        </p:txBody>
      </p:sp>
      <p:pic>
        <p:nvPicPr>
          <p:cNvPr id="8" name="Image 1" descr="/home/claude/jiang/figures/F4_residuals_by_study.png">    </p:cNvPr>
          <p:cNvPicPr>
            <a:picLocks noChangeAspect="1"/>
          </p:cNvPicPr>
          <p:nvPr/>
        </p:nvPicPr>
        <p:blipFill>
          <a:blip r:embed="rId2"/>
          <a:stretch>
            <a:fillRect/>
          </a:stretch>
        </p:blipFill>
        <p:spPr>
          <a:xfrm>
            <a:off x="7680960" y="4160520"/>
            <a:ext cx="3931920" cy="1417320"/>
          </a:xfrm>
          <a:prstGeom prst="rect">
            <a:avLst/>
          </a:prstGeom>
        </p:spPr>
      </p:pic>
      <p:sp>
        <p:nvSpPr>
          <p:cNvPr id="9" name="Text 4"/>
          <p:cNvSpPr txBox="1"/>
          <p:nvPr/>
        </p:nvSpPr>
        <p:spPr>
          <a:xfrm>
            <a:off x="7680960" y="5623560"/>
            <a:ext cx="3931920" cy="640080"/>
          </a:xfrm>
          <a:prstGeom prst="rect">
            <a:avLst/>
          </a:prstGeom>
          <a:noFill/>
          <a:ln/>
        </p:spPr>
        <p:txBody>
          <a:bodyPr wrap="square" lIns="0" tIns="0" rIns="0" bIns="0" rtlCol="0" anchor="ctr"/>
          <a:lstStyle/>
          <a:p>
            <a:pPr indent="0" marL="0">
              <a:buNone/>
            </a:pPr>
            <a:r>
              <a:rPr lang="en-US" sz="950" dirty="0">
                <a:solidFill>
                  <a:srgbClr val="666666"/>
                </a:solidFill>
                <a:latin typeface="Calibri" pitchFamily="34" charset="0"/>
                <a:ea typeface="Calibri" pitchFamily="34" charset="-122"/>
                <a:cs typeface="Calibri" pitchFamily="34" charset="-120"/>
              </a:rPr>
              <a:t>Forest residuals per study (≥5 mixes), sorted. Random split: scatter around zero. By-study split: whole laboratories sit above or below — the error is the laboratory, not the mix.</a:t>
            </a:r>
            <a:endParaRPr lang="en-US" sz="950" dirty="0"/>
          </a:p>
        </p:txBody>
      </p:sp>
      <p:sp>
        <p:nvSpPr>
          <p:cNvPr id="10" name="Text 5"/>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900" dirty="0">
                <a:solidFill>
                  <a:srgbClr val="666666"/>
                </a:solidFill>
                <a:latin typeface="Calibri" pitchFamily="34" charset="0"/>
                <a:ea typeface="Calibri" pitchFamily="34" charset="-122"/>
                <a:cs typeface="Calibri" pitchFamily="34" charset="-120"/>
              </a:rPr>
              <a:t>CSBP 711 · Assignment 1 · Hakem Alkhraisha · 4/5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Why XGBoost won: laboratory memory, then the residual</a:t>
            </a:r>
            <a:endParaRPr lang="en-US" sz="30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indent="0" marL="0">
              <a:buNone/>
            </a:pPr>
            <a:r>
              <a:rPr lang="en-US" sz="1400" dirty="0">
                <a:solidFill>
                  <a:srgbClr val="666666"/>
                </a:solidFill>
                <a:latin typeface="Calibri" pitchFamily="34" charset="0"/>
                <a:ea typeface="Calibri" pitchFamily="34" charset="-122"/>
                <a:cs typeface="Calibri" pitchFamily="34" charset="-120"/>
              </a:rPr>
              <a:t>Two data properties, predictions stated in advance, five ablations</a:t>
            </a:r>
            <a:endParaRPr lang="en-US" sz="1400" dirty="0"/>
          </a:p>
        </p:txBody>
      </p:sp>
      <p:sp>
        <p:nvSpPr>
          <p:cNvPr id="4" name="Shape 2"/>
          <p:cNvSpPr/>
          <p:nvPr/>
        </p:nvSpPr>
        <p:spPr>
          <a:xfrm>
            <a:off x="548640" y="1508760"/>
            <a:ext cx="5577840" cy="2103120"/>
          </a:xfrm>
          <a:prstGeom prst="roundRect">
            <a:avLst>
              <a:gd name="adj" fmla="val 4348"/>
            </a:avLst>
          </a:prstGeom>
          <a:solidFill>
            <a:srgbClr val="EEF2F6"/>
          </a:solidFill>
          <a:ln w="12700">
            <a:solidFill>
              <a:srgbClr val="EEF2F6"/>
            </a:solidFill>
            <a:prstDash val="solid"/>
          </a:ln>
        </p:spPr>
      </p:sp>
      <p:sp>
        <p:nvSpPr>
          <p:cNvPr id="5" name="Text 3"/>
          <p:cNvSpPr txBox="1"/>
          <p:nvPr/>
        </p:nvSpPr>
        <p:spPr>
          <a:xfrm>
            <a:off x="731520" y="1572768"/>
            <a:ext cx="5212080" cy="2011680"/>
          </a:xfrm>
          <a:prstGeom prst="rect">
            <a:avLst/>
          </a:prstGeom>
          <a:noFill/>
          <a:ln/>
        </p:spPr>
        <p:txBody>
          <a:bodyPr wrap="square" lIns="0" tIns="0" rIns="0" bIns="0" rtlCol="0" anchor="t"/>
          <a:lstStyle/>
          <a:p>
            <a:pPr indent="0" marL="0">
              <a:buNone/>
            </a:pPr>
            <a:r>
              <a:rPr lang="en-US" sz="1000" b="1" dirty="0">
                <a:solidFill>
                  <a:srgbClr val="1B2A4A"/>
                </a:solidFill>
                <a:latin typeface="Calibri" pitchFamily="34" charset="0"/>
                <a:ea typeface="Calibri" pitchFamily="34" charset="-122"/>
                <a:cs typeface="Calibri" pitchFamily="34" charset="-120"/>
              </a:rPr>
              <a:t>Data property 1. </a:t>
            </a:r>
            <a:pPr indent="0" marL="0">
              <a:buNone/>
            </a:pPr>
            <a:r>
              <a:rPr lang="en-US" sz="1000" dirty="0">
                <a:solidFill>
                  <a:srgbClr val="222222"/>
                </a:solidFill>
                <a:latin typeface="Calibri" pitchFamily="34" charset="0"/>
                <a:ea typeface="Calibri" pitchFamily="34" charset="-122"/>
                <a:cs typeface="Calibri" pitchFamily="34" charset="-120"/>
              </a:rPr>
              <a:t>61 % of the variance in strength lies between study blocks, and fly-ash oxides and silicate composition barely vary within a block (chart), so on a random split a tree can identify the source and inherit its strength level.</a:t>
            </a:r>
            <a:endParaRPr lang="en-US" sz="100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000" dirty="0"/>
          </a:p>
          <a:p>
            <a:pPr indent="0" marL="0">
              <a:buNone/>
            </a:pPr>
            <a:r>
              <a:rPr lang="en-US" sz="1000" b="1" dirty="0">
                <a:solidFill>
                  <a:srgbClr val="1B2A4A"/>
                </a:solidFill>
                <a:latin typeface="Calibri" pitchFamily="34" charset="0"/>
                <a:ea typeface="Calibri" pitchFamily="34" charset="-122"/>
                <a:cs typeface="Calibri" pitchFamily="34" charset="-120"/>
              </a:rPr>
              <a:t>Prediction 1 (in advance). </a:t>
            </a:r>
            <a:pPr indent="0" marL="0">
              <a:buNone/>
            </a:pPr>
            <a:r>
              <a:rPr lang="en-US" sz="1000" dirty="0">
                <a:solidFill>
                  <a:srgbClr val="222222"/>
                </a:solidFill>
                <a:latin typeface="Calibri" pitchFamily="34" charset="0"/>
                <a:ea typeface="Calibri" pitchFamily="34" charset="-122"/>
                <a:cs typeface="Calibri" pitchFamily="34" charset="-120"/>
              </a:rPr>
              <a:t>(a) Hold out whole blocks and every model should fall to the baseline's level; (b) give every model the block identity and the baseline should rise while the trees barely move.</a:t>
            </a:r>
            <a:endParaRPr lang="en-US" sz="100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000" dirty="0"/>
          </a:p>
          <a:p>
            <a:pPr indent="0" marL="0">
              <a:buNone/>
            </a:pPr>
            <a:r>
              <a:rPr lang="en-US" sz="1000" b="1" dirty="0">
                <a:solidFill>
                  <a:srgbClr val="1B2A4A"/>
                </a:solidFill>
                <a:latin typeface="Calibri" pitchFamily="34" charset="0"/>
                <a:ea typeface="Calibri" pitchFamily="34" charset="-122"/>
                <a:cs typeface="Calibri" pitchFamily="34" charset="-120"/>
              </a:rPr>
              <a:t>Result 1. </a:t>
            </a:r>
            <a:pPr indent="0" marL="0">
              <a:buNone/>
            </a:pPr>
            <a:r>
              <a:rPr lang="en-US" sz="1000" dirty="0">
                <a:solidFill>
                  <a:srgbClr val="222222"/>
                </a:solidFill>
                <a:latin typeface="Calibri" pitchFamily="34" charset="0"/>
                <a:ea typeface="Calibri" pitchFamily="34" charset="-122"/>
                <a:cs typeface="Calibri" pitchFamily="34" charset="-120"/>
              </a:rPr>
              <a:t>(b) held: ridge 0.47 → 0.70, trees ±0.01; block mean alone 0.53 &gt; ridge 0.47. (a) held for the MLP, is within fold-draw noise for the forest (0.13 ± 0.06 vs ridge 0.05 ± 0.10), and failed for XGBoost (0.29 ± 0.06, first in 8 of 8 draws). So the laboratory property explains the trees' lead over ridge, not XGBoost's margin over the forest.</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3675888"/>
          <a:ext cx="5577840" cy="914400"/>
        </p:xfrm>
        <a:graphic>
          <a:graphicData uri="http://schemas.openxmlformats.org/drawingml/2006/table">
            <a:tbl>
              <a:tblPr/>
              <a:tblGrid>
                <a:gridCol w="1920240"/>
                <a:gridCol w="868680"/>
                <a:gridCol w="914400"/>
                <a:gridCol w="868680"/>
                <a:gridCol w="1005840"/>
              </a:tblGrid>
              <a:tr h="237744">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R², seed 42: random / held out</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1B2A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Ridge</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1B2A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Forest</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1B2A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XGBoost</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1B2A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MLP</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solidFill>
                      <a:srgbClr val="1B2A4A"/>
                    </a:solidFill>
                  </a:tcPr>
                </a:tc>
              </a:tr>
              <a:tr h="237744">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Mix variables</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0.47 / 0.05</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0.80 / 0.05</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0.85 / 0.16</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0.80 / −0.86</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r>
              <a:tr h="237744">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 block identity (random only)</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b="1" dirty="0">
                          <a:solidFill>
                            <a:srgbClr val="222222"/>
                          </a:solidFill>
                          <a:latin typeface="Calibri" pitchFamily="34" charset="0"/>
                          <a:ea typeface="Calibri" pitchFamily="34" charset="-122"/>
                          <a:cs typeface="Calibri" pitchFamily="34" charset="-120"/>
                        </a:rPr>
                        <a:t>0.70</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0.81</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0.84</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0.80</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r>
              <a:tr h="237744">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Block mean only, no mix variables</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b="1" dirty="0">
                          <a:solidFill>
                            <a:srgbClr val="222222"/>
                          </a:solidFill>
                          <a:latin typeface="Calibri" pitchFamily="34" charset="0"/>
                          <a:ea typeface="Calibri" pitchFamily="34" charset="-122"/>
                          <a:cs typeface="Calibri" pitchFamily="34" charset="-120"/>
                        </a:rPr>
                        <a:t>0.53</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r>
              <a:tr h="237744">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Forest limited to depth 4</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0.58 / 0.02</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r>
              <a:tr h="237744">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Bagged vs boosted trees, depth 4</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0.57 / −0.03</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b="1" dirty="0">
                          <a:solidFill>
                            <a:srgbClr val="222222"/>
                          </a:solidFill>
                          <a:latin typeface="Calibri" pitchFamily="34" charset="0"/>
                          <a:ea typeface="Calibri" pitchFamily="34" charset="-122"/>
                          <a:cs typeface="Calibri" pitchFamily="34" charset="-120"/>
                        </a:rPr>
                        <a:t>0.85 / 0.16</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r>
              <a:tr h="237744">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8 fold draws, held out, mean ± sd</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0.05 ± 0.10</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0.13 ± 0.06</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b="1" dirty="0">
                          <a:solidFill>
                            <a:srgbClr val="222222"/>
                          </a:solidFill>
                          <a:latin typeface="Calibri" pitchFamily="34" charset="0"/>
                          <a:ea typeface="Calibri" pitchFamily="34" charset="-122"/>
                          <a:cs typeface="Calibri" pitchFamily="34" charset="-120"/>
                        </a:rPr>
                        <a:t>0.29 ± 0.06</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c>
                  <a:txBody>
                    <a:bodyPr/>
                    <a:lstStyle/>
                    <a:p>
                      <a:pPr algn="ctr" indent="0" marL="0">
                        <a:buNone/>
                      </a:pPr>
                      <a:r>
                        <a:rPr lang="en-US" sz="950" dirty="0">
                          <a:solidFill>
                            <a:srgbClr val="222222"/>
                          </a:solidFill>
                          <a:latin typeface="Calibri" pitchFamily="34" charset="0"/>
                          <a:ea typeface="Calibri" pitchFamily="34" charset="-122"/>
                          <a:cs typeface="Calibri" pitchFamily="34" charset="-120"/>
                        </a:rPr>
                        <a:t>−0.60 ± 0.30</a:t>
                      </a:r>
                      <a:endParaRPr lang="en-US" sz="950" dirty="0">
                        <a:latin typeface="Calibri" charset="0"/>
                        <a:ea typeface="Calibri" charset="0"/>
                        <a:cs typeface="Calibri" charset="0"/>
                      </a:endParaRPr>
                    </a:p>
                  </a:txBody>
                  <a:tcPr marL="91440" marR="91440" marT="45720" marB="45720">
                    <a:lnL w="9525" cap="flat" cmpd="sng" algn="ctr">
                      <a:solidFill>
                        <a:srgbClr val="D0D7E0"/>
                      </a:solidFill>
                      <a:prstDash val="solid"/>
                      <a:round/>
                      <a:headEnd type="none" w="med" len="med"/>
                      <a:tailEnd type="none" w="med" len="med"/>
                    </a:lnL>
                    <a:lnR w="9525" cap="flat" cmpd="sng" algn="ctr">
                      <a:solidFill>
                        <a:srgbClr val="D0D7E0"/>
                      </a:solidFill>
                      <a:prstDash val="solid"/>
                      <a:round/>
                      <a:headEnd type="none" w="med" len="med"/>
                      <a:tailEnd type="none" w="med" len="med"/>
                    </a:lnR>
                    <a:lnT w="9525" cap="flat" cmpd="sng" algn="ctr">
                      <a:solidFill>
                        <a:srgbClr val="D0D7E0"/>
                      </a:solidFill>
                      <a:prstDash val="solid"/>
                      <a:round/>
                      <a:headEnd type="none" w="med" len="med"/>
                      <a:tailEnd type="none" w="med" len="med"/>
                    </a:lnT>
                    <a:lnB w="9525" cap="flat" cmpd="sng" algn="ctr">
                      <a:solidFill>
                        <a:srgbClr val="D0D7E0"/>
                      </a:solidFill>
                      <a:prstDash val="solid"/>
                      <a:round/>
                      <a:headEnd type="none" w="med" len="med"/>
                      <a:tailEnd type="none" w="med" len="med"/>
                    </a:lnB>
                  </a:tcPr>
                </a:tc>
              </a:tr>
            </a:tbl>
          </a:graphicData>
        </a:graphic>
      </p:graphicFrame>
      <p:sp>
        <p:nvSpPr>
          <p:cNvPr id="7" name="Text 4"/>
          <p:cNvSpPr txBox="1"/>
          <p:nvPr/>
        </p:nvSpPr>
        <p:spPr>
          <a:xfrm>
            <a:off x="548640" y="5669280"/>
            <a:ext cx="5577840" cy="685800"/>
          </a:xfrm>
          <a:prstGeom prst="rect">
            <a:avLst/>
          </a:prstGeom>
          <a:noFill/>
          <a:ln/>
        </p:spPr>
        <p:txBody>
          <a:bodyPr wrap="square" lIns="0" tIns="0" rIns="0" bIns="0" rtlCol="0" anchor="t"/>
          <a:lstStyle/>
          <a:p>
            <a:pPr indent="0" marL="0">
              <a:buNone/>
            </a:pPr>
            <a:r>
              <a:rPr lang="en-US" sz="850" b="1" dirty="0">
                <a:solidFill>
                  <a:srgbClr val="1B2A4A"/>
                </a:solidFill>
                <a:latin typeface="Calibri" pitchFamily="34" charset="0"/>
                <a:ea typeface="Calibri" pitchFamily="34" charset="-122"/>
                <a:cs typeface="Calibri" pitchFamily="34" charset="-120"/>
              </a:rPr>
              <a:t>Limits. </a:t>
            </a:r>
            <a:pPr indent="0" marL="0">
              <a:buNone/>
            </a:pPr>
            <a:r>
              <a:rPr lang="en-US" sz="850" dirty="0">
                <a:solidFill>
                  <a:srgbClr val="222222"/>
                </a:solidFill>
                <a:latin typeface="Calibri" pitchFamily="34" charset="0"/>
                <a:ea typeface="Calibri" pitchFamily="34" charset="-122"/>
                <a:cs typeface="Calibri" pitchFamily="34" charset="-120"/>
              </a:rPr>
              <a:t>The depth test could not separate depth from capacity (the depth-4 forest underfits the random split too). Blocks are not laboratories: 15 % of held-out rows share a fly-ash fingerprint with training, so every by-study score is an upper bound. Implication for my thesis: R² above 0.9 on a random split of a compiled database is memorisation; WP3 validates by held-out study.</a:t>
            </a:r>
            <a:endParaRPr lang="en-US" sz="850" dirty="0"/>
          </a:p>
        </p:txBody>
      </p:sp>
      <p:pic>
        <p:nvPicPr>
          <p:cNvPr id="8" name="Image 0" descr="/home/claude/jiang/figures/F2_fingerprint.png">    </p:cNvPr>
          <p:cNvPicPr>
            <a:picLocks noChangeAspect="1"/>
          </p:cNvPicPr>
          <p:nvPr/>
        </p:nvPicPr>
        <p:blipFill>
          <a:blip r:embed="rId1"/>
          <a:stretch>
            <a:fillRect/>
          </a:stretch>
        </p:blipFill>
        <p:spPr>
          <a:xfrm>
            <a:off x="6400800" y="1508760"/>
            <a:ext cx="5212080" cy="2834640"/>
          </a:xfrm>
          <a:prstGeom prst="rect">
            <a:avLst/>
          </a:prstGeom>
        </p:spPr>
      </p:pic>
      <p:sp>
        <p:nvSpPr>
          <p:cNvPr id="9" name="Text 5"/>
          <p:cNvSpPr txBox="1"/>
          <p:nvPr/>
        </p:nvSpPr>
        <p:spPr>
          <a:xfrm>
            <a:off x="6400800" y="4343400"/>
            <a:ext cx="5212080" cy="274320"/>
          </a:xfrm>
          <a:prstGeom prst="rect">
            <a:avLst/>
          </a:prstGeom>
          <a:noFill/>
          <a:ln/>
        </p:spPr>
        <p:txBody>
          <a:bodyPr wrap="square" lIns="0" tIns="0" rIns="0" bIns="0" rtlCol="0" anchor="ctr"/>
          <a:lstStyle/>
          <a:p>
            <a:pPr indent="0" marL="0">
              <a:buNone/>
            </a:pPr>
            <a:r>
              <a:rPr lang="en-US" sz="950" dirty="0">
                <a:solidFill>
                  <a:srgbClr val="666666"/>
                </a:solidFill>
                <a:latin typeface="Calibri" pitchFamily="34" charset="0"/>
                <a:ea typeface="Calibri" pitchFamily="34" charset="-122"/>
                <a:cs typeface="Calibri" pitchFamily="34" charset="-120"/>
              </a:rPr>
              <a:t>Within-block spread of each feature as a fraction of its overall spread. Near zero = a source fingerprint.</a:t>
            </a:r>
            <a:endParaRPr lang="en-US" sz="950" dirty="0"/>
          </a:p>
        </p:txBody>
      </p:sp>
      <p:sp>
        <p:nvSpPr>
          <p:cNvPr id="10" name="Shape 6"/>
          <p:cNvSpPr/>
          <p:nvPr/>
        </p:nvSpPr>
        <p:spPr>
          <a:xfrm>
            <a:off x="6400800" y="4617720"/>
            <a:ext cx="5212080" cy="1737360"/>
          </a:xfrm>
          <a:prstGeom prst="roundRect">
            <a:avLst>
              <a:gd name="adj" fmla="val 5263"/>
            </a:avLst>
          </a:prstGeom>
          <a:solidFill>
            <a:srgbClr val="EEF2F6"/>
          </a:solidFill>
          <a:ln w="12700">
            <a:solidFill>
              <a:srgbClr val="EEF2F6"/>
            </a:solidFill>
            <a:prstDash val="solid"/>
          </a:ln>
        </p:spPr>
      </p:sp>
      <p:sp>
        <p:nvSpPr>
          <p:cNvPr id="11" name="Text 7"/>
          <p:cNvSpPr txBox="1"/>
          <p:nvPr/>
        </p:nvSpPr>
        <p:spPr>
          <a:xfrm>
            <a:off x="6537960" y="4663440"/>
            <a:ext cx="4937760" cy="1673352"/>
          </a:xfrm>
          <a:prstGeom prst="rect">
            <a:avLst/>
          </a:prstGeom>
          <a:noFill/>
          <a:ln/>
        </p:spPr>
        <p:txBody>
          <a:bodyPr wrap="square" lIns="0" tIns="0" rIns="0" bIns="0" rtlCol="0" anchor="t"/>
          <a:lstStyle/>
          <a:p>
            <a:pPr indent="0" marL="0">
              <a:buNone/>
            </a:pPr>
            <a:r>
              <a:rPr lang="en-US" sz="950" b="1" dirty="0">
                <a:solidFill>
                  <a:srgbClr val="1B2A4A"/>
                </a:solidFill>
                <a:latin typeface="Calibri" pitchFamily="34" charset="0"/>
                <a:ea typeface="Calibri" pitchFamily="34" charset="-122"/>
                <a:cs typeface="Calibri" pitchFamily="34" charset="-120"/>
              </a:rPr>
              <a:t>Data property 2, and the test that closed the gap. </a:t>
            </a:r>
            <a:pPr indent="0" marL="0">
              <a:buNone/>
            </a:pPr>
            <a:r>
              <a:rPr lang="en-US" sz="950" dirty="0">
                <a:solidFill>
                  <a:srgbClr val="222222"/>
                </a:solidFill>
                <a:latin typeface="Calibri" pitchFamily="34" charset="0"/>
                <a:ea typeface="Calibri" pitchFamily="34" charset="-122"/>
                <a:cs typeface="Calibri" pitchFamily="34" charset="-120"/>
              </a:rPr>
              <a:t>Strength here is a large between-laboratory offset plus a small within-laboratory signal (curing, molarity). Prediction 2 (in advance): if fitting residuals is what lets XGBoost keep a margin, then boosted trees should beat bagged trees from the same library at the same depth 4 and the same sampling when blocks are held out — removing depth and capacity from the comparison. Result: boosted 0.16 vs bagged −0.03 by block (0.85 vs 0.57 random). Averaging independent trees re-fits the offset in every tree; boosting absorbs the offset in the first trees and then fits the residual, which is the only part that transfers to a new source.</a:t>
            </a:r>
            <a:endParaRPr lang="en-US" sz="950" dirty="0"/>
          </a:p>
        </p:txBody>
      </p:sp>
      <p:sp>
        <p:nvSpPr>
          <p:cNvPr id="12" name="Text 8"/>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900" dirty="0">
                <a:solidFill>
                  <a:srgbClr val="666666"/>
                </a:solidFill>
                <a:latin typeface="Calibri" pitchFamily="34" charset="0"/>
                <a:ea typeface="Calibri" pitchFamily="34" charset="-122"/>
                <a:cs typeface="Calibri" pitchFamily="34" charset="-120"/>
              </a:rPr>
              <a:t>CSBP 711 · Assignment 1 · Hakem Alkhraisha · 5/5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2026-10-05T06:35:33Z</dcterms:created>
  <dcterms:modified xsi:type="dcterms:W3CDTF">2026-10-05T06:35:33Z</dcterms:modified>
</cp:coreProperties>
</file>